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6"/>
    <p:restoredTop sz="94695"/>
  </p:normalViewPr>
  <p:slideViewPr>
    <p:cSldViewPr snapToGrid="0">
      <p:cViewPr varScale="1">
        <p:scale>
          <a:sx n="136" d="100"/>
          <a:sy n="136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2FB3-F8A6-7854-1D33-3B73D1DDC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41E0E-F42F-D500-D19D-2C0958CE9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8294C-F898-23EE-25A1-3414F78A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26FB8-15D8-29DA-1077-130D362C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662B9-89D4-8FD7-A645-FF68F68E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8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208F-AC83-2463-19DA-4BADFDA0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9E6A-4623-2952-0827-9E6D17FF0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D0C69-36C1-8BCF-CF62-10947FF9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C783-F742-8737-A7A7-6F1AE95A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4E8C9-9E6F-AC1D-C0BB-E805A556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0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6A3F-E19C-DFAB-A525-6AD887BB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27830-92DE-81CE-A17A-B7F161C45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68DBA-03DC-D0F7-5A24-74491D29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BEC53-2816-64B8-F54B-39CB9A5A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5C81D-CBC2-D3D8-F512-34FBA183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6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54F8-A2CA-8A7A-CB86-099795FB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B011B-E0E9-DCCB-072F-56568AA8E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00AE6-B5C4-E2C3-3C06-B95C0163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BC272-C80F-496D-CC7D-94A804DA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75C9C-F2C8-305E-425C-DB108C5A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88036-B687-3015-9CD9-F7D99E82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7A7C-C4FB-E826-7E9D-F2CD08BF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AF86-6EC5-8721-054C-A705D357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CEFAA-BFF4-0A21-33D8-ECF45AD39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89AD9-373A-0257-1141-8E1347A8D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5D340-8F80-2D64-641B-A3C652F3A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EE88D-495D-116E-D0C4-B59945D0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917C4-E9FF-6F89-06EE-8EF6E03B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74F32-222E-C21B-BEDF-61112866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1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832A-CFC6-DE97-8F34-6DF744FB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8080F-0805-5E1B-E1B0-9B1C0566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19828-891F-9C30-D189-358D88CE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586FA-6942-A07B-710D-7A152E74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1C1B7-D959-1581-0576-7911D758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D0F72-88BE-F5D4-4387-B352FEBE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70353-B6D4-A612-8600-850A123C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7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312D-82BF-3E13-F456-074B4A26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7D7A-3F19-A525-5504-1FBCAFC8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20BA7-9D21-376E-763F-34EB5305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3FB84-69B4-F8AB-E438-7073802E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E6A69-C5B9-486C-7027-2ADDE626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613CE-579B-FF07-8AFC-81A7098F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2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BEA1-7487-7501-9963-78AAC289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F4697-9BE8-5279-4007-9ACD01105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5A789-3D51-4704-D6AF-DCB1D5437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328A-7923-CF57-E14D-4B9F674E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1FF41-EA42-F779-F9BE-390B27EF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92953-BC78-CB32-D87B-FFA3E07F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9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0C4D-C8FE-2610-51E4-1C745C32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C90E6-58D5-0B70-555D-D689FB50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0CBDA-B17C-00E2-EBFE-DD2D5781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0183-8D8F-3153-A461-13CBDB5E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B1BCF-9E6E-ECE2-C86D-5E443C10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1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9322B-C2C7-A90A-CC3E-D26701E37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C5584-3675-6EAB-1753-0940CFC8C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6CC8-0B03-6309-C8D7-D7FE474F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81A73-5921-7D06-3793-162B3C11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83F3-FF05-50F6-520D-653B273F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7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24A98-2CE2-EEA9-E25C-FB56831A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FC9DE-FF41-E631-7A99-80B970242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21A1-C95C-B8A6-EAA8-BEEC547D1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83544-BCB9-0447-8188-DAD8E96334F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D2175-3C87-02DF-95EA-6D8E5ED5B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68E19-30F2-AF27-D901-0B7096AEF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9B3F4-540D-E646-B91E-405060E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2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28FF-CD1B-4584-50B2-D3CCF0D06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CAIA NEPC Check-In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8B40-D57D-370A-6C3A-558907889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10/8/25</a:t>
            </a:r>
          </a:p>
        </p:txBody>
      </p:sp>
    </p:spTree>
    <p:extLst>
      <p:ext uri="{BB962C8B-B14F-4D97-AF65-F5344CB8AC3E}">
        <p14:creationId xmlns:p14="http://schemas.microsoft.com/office/powerpoint/2010/main" val="24380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4814-0CDF-B095-FF1B-E82E61B5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DE35-ADB2-70E3-8E7A-8E52DE07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ym typeface="Wingdings" pitchFamily="2" charset="2"/>
              </a:rPr>
              <a:t>Current understanding of workflow:</a:t>
            </a:r>
          </a:p>
          <a:p>
            <a:pPr lvl="1"/>
            <a:r>
              <a:rPr lang="en-US" dirty="0">
                <a:sym typeface="Wingdings" pitchFamily="2" charset="2"/>
              </a:rPr>
              <a:t>Estimate cohort using Atlas</a:t>
            </a:r>
          </a:p>
          <a:p>
            <a:pPr lvl="2"/>
            <a:r>
              <a:rPr lang="en-US" dirty="0">
                <a:sym typeface="Wingdings" pitchFamily="2" charset="2"/>
              </a:rPr>
              <a:t>This seems redundant given Databricks setup</a:t>
            </a:r>
          </a:p>
          <a:p>
            <a:pPr lvl="1"/>
            <a:r>
              <a:rPr lang="en-US" dirty="0">
                <a:sym typeface="Wingdings" pitchFamily="2" charset="2"/>
              </a:rPr>
              <a:t>Query patients + data in Databricks</a:t>
            </a:r>
          </a:p>
          <a:p>
            <a:pPr lvl="1"/>
            <a:r>
              <a:rPr lang="en-US" dirty="0">
                <a:sym typeface="Wingdings" pitchFamily="2" charset="2"/>
              </a:rPr>
              <a:t>Preprocess data in Databricks</a:t>
            </a:r>
          </a:p>
          <a:p>
            <a:pPr lvl="1"/>
            <a:r>
              <a:rPr lang="en-US" dirty="0">
                <a:sym typeface="Wingdings" pitchFamily="2" charset="2"/>
              </a:rPr>
              <a:t>Run model training + evaluation in Rhino</a:t>
            </a:r>
          </a:p>
          <a:p>
            <a:r>
              <a:rPr lang="en-US" dirty="0">
                <a:sym typeface="Wingdings" pitchFamily="2" charset="2"/>
              </a:rPr>
              <a:t>Have query + script setup in Databricks to:</a:t>
            </a:r>
          </a:p>
          <a:p>
            <a:pPr lvl="1"/>
            <a:r>
              <a:rPr lang="en-US" dirty="0">
                <a:sym typeface="Wingdings" pitchFamily="2" charset="2"/>
              </a:rPr>
              <a:t>Extract patients who have diagnosis of prostate cancer and &gt;= 10 PSA tests</a:t>
            </a:r>
          </a:p>
          <a:p>
            <a:pPr lvl="1"/>
            <a:r>
              <a:rPr lang="en-US" dirty="0">
                <a:sym typeface="Wingdings" pitchFamily="2" charset="2"/>
              </a:rPr>
              <a:t>Extract any instances of carboplatin or cisplatin</a:t>
            </a:r>
          </a:p>
          <a:p>
            <a:pPr lvl="1"/>
            <a:r>
              <a:rPr lang="en-US" dirty="0">
                <a:sym typeface="Wingdings" pitchFamily="2" charset="2"/>
              </a:rPr>
              <a:t>Extract dates of diagnosis, initiation of NEPC marker therapy, and each PSA test</a:t>
            </a:r>
          </a:p>
          <a:p>
            <a:pPr lvl="1"/>
            <a:r>
              <a:rPr lang="en-US" dirty="0">
                <a:sym typeface="Wingdings" pitchFamily="2" charset="2"/>
              </a:rPr>
              <a:t>Create time from diagnosis to NEPC, time to death/lost-to-</a:t>
            </a:r>
            <a:r>
              <a:rPr lang="en-US" dirty="0" err="1">
                <a:sym typeface="Wingdings" pitchFamily="2" charset="2"/>
              </a:rPr>
              <a:t>followup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8413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A8329-A654-7F18-BE7E-35C4761D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18F9-D5D9-05F3-CA8C-7F476923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120B-0D4F-9D7F-C281-5555D7666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ym typeface="Wingdings" pitchFamily="2" charset="2"/>
              </a:rPr>
              <a:t>Setup data to be input into </a:t>
            </a:r>
            <a:r>
              <a:rPr lang="en-US" dirty="0" err="1">
                <a:sym typeface="Wingdings" pitchFamily="2" charset="2"/>
              </a:rPr>
              <a:t>SurvLatentODE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Should be rather straightforward to add to Databricks</a:t>
            </a:r>
          </a:p>
          <a:p>
            <a:pPr lvl="2"/>
            <a:r>
              <a:rPr lang="en-US" dirty="0">
                <a:sym typeface="Wingdings" pitchFamily="2" charset="2"/>
              </a:rPr>
              <a:t>Basic adjustment of timing columns</a:t>
            </a:r>
          </a:p>
          <a:p>
            <a:r>
              <a:rPr lang="en-US" dirty="0" err="1">
                <a:sym typeface="Wingdings" pitchFamily="2" charset="2"/>
              </a:rPr>
              <a:t>SurvLatentODE</a:t>
            </a:r>
            <a:r>
              <a:rPr lang="en-US" dirty="0">
                <a:sym typeface="Wingdings" pitchFamily="2" charset="2"/>
              </a:rPr>
              <a:t> takes in three categories of variables:</a:t>
            </a:r>
          </a:p>
          <a:p>
            <a:pPr lvl="1"/>
            <a:r>
              <a:rPr lang="en-US" dirty="0">
                <a:sym typeface="Wingdings" pitchFamily="2" charset="2"/>
              </a:rPr>
              <a:t>Continuous variables to be reconstructed</a:t>
            </a:r>
          </a:p>
          <a:p>
            <a:pPr lvl="2"/>
            <a:r>
              <a:rPr lang="en-US" dirty="0">
                <a:sym typeface="Wingdings" pitchFamily="2" charset="2"/>
              </a:rPr>
              <a:t>PSA as primary</a:t>
            </a:r>
          </a:p>
          <a:p>
            <a:pPr lvl="2"/>
            <a:r>
              <a:rPr lang="en-US" dirty="0">
                <a:sym typeface="Wingdings" pitchFamily="2" charset="2"/>
              </a:rPr>
              <a:t>CBC/CMP?</a:t>
            </a:r>
          </a:p>
          <a:p>
            <a:pPr lvl="3"/>
            <a:r>
              <a:rPr lang="en-US" dirty="0">
                <a:sym typeface="Wingdings" pitchFamily="2" charset="2"/>
              </a:rPr>
              <a:t>Threshold based off availability</a:t>
            </a:r>
          </a:p>
          <a:p>
            <a:pPr lvl="2"/>
            <a:r>
              <a:rPr lang="en-US" dirty="0">
                <a:sym typeface="Wingdings" pitchFamily="2" charset="2"/>
              </a:rPr>
              <a:t>Vitals?</a:t>
            </a:r>
          </a:p>
          <a:p>
            <a:pPr lvl="1"/>
            <a:r>
              <a:rPr lang="en-US" dirty="0">
                <a:sym typeface="Wingdings" pitchFamily="2" charset="2"/>
              </a:rPr>
              <a:t>Stationary continuous variables </a:t>
            </a:r>
          </a:p>
          <a:p>
            <a:pPr lvl="2"/>
            <a:r>
              <a:rPr lang="en-US" dirty="0">
                <a:sym typeface="Wingdings" pitchFamily="2" charset="2"/>
              </a:rPr>
              <a:t>Age/BMI?</a:t>
            </a:r>
          </a:p>
          <a:p>
            <a:pPr lvl="1"/>
            <a:r>
              <a:rPr lang="en-US" dirty="0">
                <a:sym typeface="Wingdings" pitchFamily="2" charset="2"/>
              </a:rPr>
              <a:t>Stationary discrete variables</a:t>
            </a:r>
          </a:p>
          <a:p>
            <a:r>
              <a:rPr lang="en-US" dirty="0">
                <a:sym typeface="Wingdings" pitchFamily="2" charset="2"/>
              </a:rPr>
              <a:t>Can also consider death as competing event</a:t>
            </a:r>
          </a:p>
        </p:txBody>
      </p:sp>
    </p:spTree>
    <p:extLst>
      <p:ext uri="{BB962C8B-B14F-4D97-AF65-F5344CB8AC3E}">
        <p14:creationId xmlns:p14="http://schemas.microsoft.com/office/powerpoint/2010/main" val="295503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AE88-3DB1-F12E-F756-4EBF2C66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742F-FE97-F595-E3C8-D20BD59E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70726-561E-CF04-169B-93C3D33B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 pitchFamily="2" charset="2"/>
              </a:rPr>
              <a:t>From CAIA:</a:t>
            </a:r>
          </a:p>
          <a:p>
            <a:pPr lvl="1"/>
            <a:r>
              <a:rPr lang="en-US" dirty="0">
                <a:sym typeface="Wingdings" pitchFamily="2" charset="2"/>
              </a:rPr>
              <a:t>When/how to distribute query and preprocessing script</a:t>
            </a:r>
          </a:p>
          <a:p>
            <a:pPr lvl="2"/>
            <a:r>
              <a:rPr lang="en-US" dirty="0">
                <a:sym typeface="Wingdings" pitchFamily="2" charset="2"/>
              </a:rPr>
              <a:t>Believe they said notebook format should be fine</a:t>
            </a:r>
          </a:p>
          <a:p>
            <a:pPr lvl="1"/>
            <a:r>
              <a:rPr lang="en-US" dirty="0">
                <a:sym typeface="Wingdings" pitchFamily="2" charset="2"/>
              </a:rPr>
              <a:t>Timeframe for how long to expect this to be run at other centers</a:t>
            </a:r>
          </a:p>
          <a:p>
            <a:r>
              <a:rPr lang="en-US" dirty="0">
                <a:sym typeface="Wingdings" pitchFamily="2" charset="2"/>
              </a:rPr>
              <a:t>What I can do in interim:</a:t>
            </a:r>
          </a:p>
          <a:p>
            <a:pPr lvl="1"/>
            <a:r>
              <a:rPr lang="en-US" dirty="0">
                <a:sym typeface="Wingdings" pitchFamily="2" charset="2"/>
              </a:rPr>
              <a:t>Setup </a:t>
            </a:r>
            <a:r>
              <a:rPr lang="en-US" dirty="0" err="1">
                <a:sym typeface="Wingdings" pitchFamily="2" charset="2"/>
              </a:rPr>
              <a:t>SurvLatentODE</a:t>
            </a:r>
            <a:r>
              <a:rPr lang="en-US" dirty="0">
                <a:sym typeface="Wingdings" pitchFamily="2" charset="2"/>
              </a:rPr>
              <a:t> implementation on PROFILE data</a:t>
            </a:r>
          </a:p>
          <a:p>
            <a:pPr lvl="1"/>
            <a:r>
              <a:rPr lang="en-US" dirty="0">
                <a:sym typeface="Wingdings" pitchFamily="2" charset="2"/>
              </a:rPr>
              <a:t>Stress test + determine pertinent packages for RHINO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3769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83F5-AF11-89E6-42E7-2E283F6E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D8173-0502-BF8C-6AA4-6C4292CE6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of the underlying data</a:t>
            </a:r>
          </a:p>
          <a:p>
            <a:pPr lvl="1"/>
            <a:r>
              <a:rPr lang="en-US" dirty="0"/>
              <a:t>Include testosterone</a:t>
            </a:r>
          </a:p>
          <a:p>
            <a:r>
              <a:rPr lang="en-US" dirty="0"/>
              <a:t>Check to make sure that the numbers/measurements are useful</a:t>
            </a:r>
          </a:p>
          <a:p>
            <a:r>
              <a:rPr lang="en-US" dirty="0"/>
              <a:t>Generate a script to scrape for patients that are on platinum therapy</a:t>
            </a:r>
          </a:p>
          <a:p>
            <a:pPr lvl="1"/>
            <a:r>
              <a:rPr lang="en-US" dirty="0"/>
              <a:t>Have notes of interest</a:t>
            </a:r>
          </a:p>
          <a:p>
            <a:r>
              <a:rPr lang="en-US" dirty="0"/>
              <a:t>Use a subset of treatments that are on metastatic line of drugs</a:t>
            </a:r>
          </a:p>
        </p:txBody>
      </p:sp>
    </p:spTree>
    <p:extLst>
      <p:ext uri="{BB962C8B-B14F-4D97-AF65-F5344CB8AC3E}">
        <p14:creationId xmlns:p14="http://schemas.microsoft.com/office/powerpoint/2010/main" val="209104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262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CAIA NEPC Check-In</vt:lpstr>
      <vt:lpstr>Overall Workflow</vt:lpstr>
      <vt:lpstr>Model </vt:lpstr>
      <vt:lpstr>Next Steps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Connor, J. Patrick Gerard</dc:creator>
  <cp:lastModifiedBy>Connor, J. Patrick Gerard</cp:lastModifiedBy>
  <cp:revision>29</cp:revision>
  <dcterms:created xsi:type="dcterms:W3CDTF">2025-10-08T18:40:01Z</dcterms:created>
  <dcterms:modified xsi:type="dcterms:W3CDTF">2025-10-08T20:59:44Z</dcterms:modified>
</cp:coreProperties>
</file>