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334" r:id="rId3"/>
    <p:sldId id="313" r:id="rId4"/>
    <p:sldId id="299" r:id="rId5"/>
    <p:sldId id="300" r:id="rId6"/>
    <p:sldId id="336" r:id="rId7"/>
    <p:sldId id="338" r:id="rId8"/>
    <p:sldId id="339" r:id="rId9"/>
    <p:sldId id="337" r:id="rId10"/>
    <p:sldId id="33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B21EB4-8955-B443-BAB0-ED1D98576A3D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371937-2EC2-4A41-A0C1-858C2D207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1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59fd317260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359fd317260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59fd317260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359fd317260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71937-2EC2-4A41-A0C1-858C2D2071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17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9A7C5-FB3A-67BC-8620-10D7AFEF2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70B12-F407-CB36-EC34-633E62F34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97F89-C0E2-DA7F-EEDD-AB0B80612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16BEB-77BF-B4C6-0794-09BD9C91B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71937-2EC2-4A41-A0C1-858C2D2071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84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852F5-A290-FD0F-90A3-2E7ED04D5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3EA20A-FE5A-FE52-732C-7B6BA6D3D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4BCD2-E817-D7EB-0367-AD885B3ED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BFC74-B355-04E8-92D8-AB9A90B24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71937-2EC2-4A41-A0C1-858C2D20716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353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3CEF4-DC5D-DD21-C8DA-F28E739E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4AEBD-CC10-D0C3-FF4E-90B6C19C8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DCD58F-6AD9-6604-6C86-3E92B6884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B75A3-1467-2271-1BCD-DD4A73BD7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71937-2EC2-4A41-A0C1-858C2D2071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862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EB114-EE72-80BC-B9DC-8C734BA53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96F03-8D2F-8CA2-F7EC-8EA436D5F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C4655-8EB0-6743-09F9-0CA8C42BE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E1E09-02B9-6A85-EA7E-5B745F3D0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629A-FE3E-8C34-7C1E-FD9EF7F0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006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1702-5A3C-62EC-E5DA-2801B58B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19896-9262-5EFE-8701-25A3039C0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B2E68-FCE7-BF58-F67C-93F2AB762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C5620-A2E0-F7B4-BC2D-B12174055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63BF3-44E0-64F3-CBC9-031FBD285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6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2038E-0C15-3A9A-6042-84DA556C7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6B03A-AB16-1BAA-E300-0CB8EF882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F4300-1C9C-35AD-B90F-10D2FAE45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FCB80-A749-2741-D5F2-58752E43C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AE566-64BF-E851-5707-437747F7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26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63D8D-39AD-0990-EAF1-CB3CEE443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52225-405B-07AB-4D9C-BD7DE788C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47BBD-E271-3F57-BA76-3B5D0B9B1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1D119-8577-1A6A-CAAE-6F89E1598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33DB9-E880-EC6D-9FCB-CBB4BBCF4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962F5-62B0-732E-5222-9A4A2BDEF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74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7D3D0-7513-E1AB-6C9F-33CB04853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01FF-A430-8998-EFC9-EFDBFC471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7847F-267E-45DC-BA94-CB5DF69CB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29BA13-CE7A-E739-BBC4-7F13AA02A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EFDF63-6571-8BDF-E9D9-89D9D26D80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8E3763-3E69-4D63-609C-9FF4315B5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08FA4C-EF3D-8D1B-1166-023429931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B346B-782B-4BDF-B541-0A0B64EB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530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C655D-7B52-6B8A-EDF3-EE0E19CCC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5FDF9D-4250-D6E4-3AF4-D4E37ECF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5FA40B-0EF2-C902-926B-6A392C291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952F2-8570-C3C5-F692-641F87A74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7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DC4CA4-9661-EAFB-C788-2FD08A5ED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B67D8C-365A-7A5C-C192-26A98A002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AB405-EC20-3113-3FC9-66BCE6B14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64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D9EAE-B04D-3BD3-140C-7B4169625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B1ECC-F92A-ADC1-9F57-133927D1B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0B9F2D-62F9-D260-3E93-F6C3F0137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E9DC6-05D7-B723-9DBE-089069635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4100E-F0C0-5636-1DD7-65CD30D1E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9C5F2-037E-1611-DDA5-FA73BD13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84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44632-7E94-E1DD-77B7-26175C5ED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C4B2D4-0A09-9E90-5C6B-3BAF0BA1BF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B7EC5-E7E3-500F-E86C-98CA6B094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A08A4-10E4-FD25-54BE-A641E3AC1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7EF71-79DC-AD53-BE99-196847A42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8C72B-CFE2-5110-7ECC-9F78070B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78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294D-AC19-AC5F-0F07-0F84CAD1D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45F40-F2C8-D3F2-6B97-8CD755066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5ED7B-9DD3-7DCB-17D0-C899F67A0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1D6FC-E475-1BAD-848B-30718D474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5A680-E9D8-57CF-35F4-2C8480A8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5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15D0E9-EBDA-D034-143F-53501A80A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1A1060-9E2A-1B63-4A7B-341498944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46321-6A17-26B2-D57A-BCCEC5E5A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2D980-132B-A552-F4AB-A52255991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73601-5BD6-9B35-1FF3-4D4162AE7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32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1299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4C5AB-A93B-5F29-12F1-D9644C70A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775A7-B54E-984B-F167-4E54DCABE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E1B8E-994F-078D-A7BB-554CDC870E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1F287D-A1BF-9D41-B395-09722AF3578B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20DF5-9E12-A7AA-05FD-B23A9FED99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32861-DE20-A76A-B568-3A561B1BC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78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8AA0E-C879-2AD8-2F28-CC9266DAE4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CAIA NEPC Brief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B808D-EED5-7239-DFEC-AB62329681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J. Patrick Connor</a:t>
            </a:r>
          </a:p>
          <a:p>
            <a:r>
              <a:rPr lang="en-US" dirty="0"/>
              <a:t>G3 Gusev Lab</a:t>
            </a:r>
          </a:p>
        </p:txBody>
      </p:sp>
    </p:spTree>
    <p:extLst>
      <p:ext uri="{BB962C8B-B14F-4D97-AF65-F5344CB8AC3E}">
        <p14:creationId xmlns:p14="http://schemas.microsoft.com/office/powerpoint/2010/main" val="408065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96C25-1A9C-596E-B255-F202507AC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2272-E734-C50E-B2ED-AB9A366E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2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0E9A2D-A3F1-6C7B-24AE-7FFDA76B9B2C}"/>
              </a:ext>
            </a:extLst>
          </p:cNvPr>
          <p:cNvSpPr txBox="1"/>
          <p:nvPr/>
        </p:nvSpPr>
        <p:spPr>
          <a:xfrm>
            <a:off x="317670" y="1240554"/>
            <a:ext cx="115566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Section 1:</a:t>
            </a:r>
            <a:r>
              <a:rPr lang="en-US" sz="3200" dirty="0"/>
              <a:t> Background on our model incorporating clinical text </a:t>
            </a:r>
          </a:p>
          <a:p>
            <a:r>
              <a:rPr lang="en-US" sz="3200" dirty="0"/>
              <a:t>		 into survival models</a:t>
            </a:r>
          </a:p>
          <a:p>
            <a:endParaRPr lang="en-US" sz="3200" dirty="0"/>
          </a:p>
          <a:p>
            <a:r>
              <a:rPr lang="en-US" sz="3200" b="1" dirty="0"/>
              <a:t>Section 2:</a:t>
            </a:r>
            <a:r>
              <a:rPr lang="en-US" sz="3200" dirty="0"/>
              <a:t> NEPC-specific results using both PSA and text as </a:t>
            </a:r>
          </a:p>
          <a:p>
            <a:r>
              <a:rPr lang="en-US" sz="3200" dirty="0"/>
              <a:t>		 covariates</a:t>
            </a:r>
          </a:p>
        </p:txBody>
      </p:sp>
    </p:spTree>
    <p:extLst>
      <p:ext uri="{BB962C8B-B14F-4D97-AF65-F5344CB8AC3E}">
        <p14:creationId xmlns:p14="http://schemas.microsoft.com/office/powerpoint/2010/main" val="3379814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FC913-C6FD-6264-1BED-7068CE555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A2883-DE3A-4FD1-3F1C-8DE0D4B6D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2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/>
              <a:t>Clinical Text Project Overview</a:t>
            </a:r>
          </a:p>
        </p:txBody>
      </p:sp>
      <p:pic>
        <p:nvPicPr>
          <p:cNvPr id="4" name="Google Shape;1095;p185" title="image.jpeg">
            <a:extLst>
              <a:ext uri="{FF2B5EF4-FFF2-40B4-BE49-F238E27FC236}">
                <a16:creationId xmlns:a16="http://schemas.microsoft.com/office/drawing/2014/main" id="{30910DEE-1234-E4E7-9B11-6F5162CF323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5940" y="1926844"/>
            <a:ext cx="2965263" cy="2252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96;p185" title="image.jpeg">
            <a:extLst>
              <a:ext uri="{FF2B5EF4-FFF2-40B4-BE49-F238E27FC236}">
                <a16:creationId xmlns:a16="http://schemas.microsoft.com/office/drawing/2014/main" id="{FF82D107-40D7-0ED1-1374-DDCAFC2E0A6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9763" y="1926844"/>
            <a:ext cx="3548407" cy="2252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97;p185" title="image.png">
            <a:extLst>
              <a:ext uri="{FF2B5EF4-FFF2-40B4-BE49-F238E27FC236}">
                <a16:creationId xmlns:a16="http://schemas.microsoft.com/office/drawing/2014/main" id="{C6088DA6-809C-3624-C423-55D7956AD0B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6731" y="1926844"/>
            <a:ext cx="3548407" cy="225227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5F5BA0-2A33-6FBE-D19A-37CC102E825D}"/>
              </a:ext>
            </a:extLst>
          </p:cNvPr>
          <p:cNvSpPr txBox="1"/>
          <p:nvPr/>
        </p:nvSpPr>
        <p:spPr>
          <a:xfrm>
            <a:off x="1005198" y="1458956"/>
            <a:ext cx="19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Pathology reports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04E494-5E4A-6663-3FEC-B1D89654E497}"/>
              </a:ext>
            </a:extLst>
          </p:cNvPr>
          <p:cNvSpPr txBox="1"/>
          <p:nvPr/>
        </p:nvSpPr>
        <p:spPr>
          <a:xfrm>
            <a:off x="4897799" y="1458956"/>
            <a:ext cx="173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Imaging reports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0E387C-422C-50B9-ABB2-5BC701B4248B}"/>
              </a:ext>
            </a:extLst>
          </p:cNvPr>
          <p:cNvSpPr txBox="1"/>
          <p:nvPr/>
        </p:nvSpPr>
        <p:spPr>
          <a:xfrm>
            <a:off x="8527238" y="1458956"/>
            <a:ext cx="264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Clinical/Progress reports</a:t>
            </a:r>
          </a:p>
        </p:txBody>
      </p:sp>
      <p:sp>
        <p:nvSpPr>
          <p:cNvPr id="10" name="Google Shape;1139;p187">
            <a:extLst>
              <a:ext uri="{FF2B5EF4-FFF2-40B4-BE49-F238E27FC236}">
                <a16:creationId xmlns:a16="http://schemas.microsoft.com/office/drawing/2014/main" id="{19A89E0C-10AD-A9E3-EB66-CF477275F279}"/>
              </a:ext>
            </a:extLst>
          </p:cNvPr>
          <p:cNvSpPr txBox="1"/>
          <p:nvPr/>
        </p:nvSpPr>
        <p:spPr>
          <a:xfrm>
            <a:off x="1694473" y="4635444"/>
            <a:ext cx="8803053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2400" dirty="0">
                <a:solidFill>
                  <a:schemeClr val="dk1"/>
                </a:solidFill>
              </a:rPr>
              <a:t>S(t) ~ Age </a:t>
            </a:r>
            <a:r>
              <a:rPr lang="en" sz="2400">
                <a:solidFill>
                  <a:schemeClr val="dk1"/>
                </a:solidFill>
              </a:rPr>
              <a:t>+ Gender + </a:t>
            </a:r>
            <a:r>
              <a:rPr lang="en" sz="2400" dirty="0">
                <a:solidFill>
                  <a:schemeClr val="dk1"/>
                </a:solidFill>
              </a:rPr>
              <a:t>Pathology text + Imaging text + Progress text</a:t>
            </a: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650FBA-B8DB-A4A1-B7F3-8394DCA706AE}"/>
              </a:ext>
            </a:extLst>
          </p:cNvPr>
          <p:cNvSpPr txBox="1"/>
          <p:nvPr/>
        </p:nvSpPr>
        <p:spPr>
          <a:xfrm>
            <a:off x="1694473" y="5399044"/>
            <a:ext cx="88030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Where S(t) could be time to death, metastasis, or various diagnostics and the representation of the text contains more complete information of the patient’s record than just one note instance</a:t>
            </a:r>
          </a:p>
        </p:txBody>
      </p:sp>
    </p:spTree>
    <p:extLst>
      <p:ext uri="{BB962C8B-B14F-4D97-AF65-F5344CB8AC3E}">
        <p14:creationId xmlns:p14="http://schemas.microsoft.com/office/powerpoint/2010/main" val="770502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188"/>
          <p:cNvSpPr/>
          <p:nvPr/>
        </p:nvSpPr>
        <p:spPr>
          <a:xfrm>
            <a:off x="7927700" y="5322467"/>
            <a:ext cx="1339600" cy="7636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768 dimensional </a:t>
            </a:r>
            <a:r>
              <a:rPr lang="en" sz="1333" b="1"/>
              <a:t>pooled</a:t>
            </a:r>
            <a:r>
              <a:rPr lang="en" sz="1333"/>
              <a:t> embedding</a:t>
            </a:r>
            <a:endParaRPr sz="1333"/>
          </a:p>
        </p:txBody>
      </p:sp>
      <p:sp>
        <p:nvSpPr>
          <p:cNvPr id="1146" name="Google Shape;1146;p18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Clinical Text Model Pipeline</a:t>
            </a:r>
            <a:endParaRPr dirty="0"/>
          </a:p>
        </p:txBody>
      </p:sp>
      <p:pic>
        <p:nvPicPr>
          <p:cNvPr id="1147" name="Google Shape;1147;p1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201" y="1583601"/>
            <a:ext cx="653399" cy="653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8" name="Google Shape;1148;p188"/>
          <p:cNvSpPr/>
          <p:nvPr/>
        </p:nvSpPr>
        <p:spPr>
          <a:xfrm>
            <a:off x="358467" y="1083667"/>
            <a:ext cx="8078400" cy="473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Observation Window</a:t>
            </a:r>
            <a:endParaRPr sz="2400"/>
          </a:p>
        </p:txBody>
      </p:sp>
      <p:pic>
        <p:nvPicPr>
          <p:cNvPr id="1149" name="Google Shape;1149;p1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6701" y="1583601"/>
            <a:ext cx="653399" cy="65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1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9301" y="1583601"/>
            <a:ext cx="653399" cy="653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188"/>
          <p:cNvSpPr/>
          <p:nvPr/>
        </p:nvSpPr>
        <p:spPr>
          <a:xfrm>
            <a:off x="4138667" y="2406367"/>
            <a:ext cx="518000" cy="856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152" name="Google Shape;1152;p188"/>
          <p:cNvSpPr txBox="1"/>
          <p:nvPr/>
        </p:nvSpPr>
        <p:spPr>
          <a:xfrm>
            <a:off x="2701" y="2406367"/>
            <a:ext cx="3883200" cy="8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>
                <a:solidFill>
                  <a:schemeClr val="dk1"/>
                </a:solidFill>
              </a:rPr>
              <a:t>1) Embed text with </a:t>
            </a:r>
            <a:r>
              <a:rPr lang="en" sz="2400" dirty="0" err="1">
                <a:solidFill>
                  <a:schemeClr val="dk1"/>
                </a:solidFill>
              </a:rPr>
              <a:t>ClinicalLongformer</a:t>
            </a: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1153" name="Google Shape;1153;p188"/>
          <p:cNvSpPr/>
          <p:nvPr/>
        </p:nvSpPr>
        <p:spPr>
          <a:xfrm>
            <a:off x="42100" y="3397933"/>
            <a:ext cx="1339600" cy="7636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768 dimensional embedding</a:t>
            </a:r>
            <a:endParaRPr sz="1333"/>
          </a:p>
        </p:txBody>
      </p:sp>
      <p:sp>
        <p:nvSpPr>
          <p:cNvPr id="1154" name="Google Shape;1154;p188"/>
          <p:cNvSpPr/>
          <p:nvPr/>
        </p:nvSpPr>
        <p:spPr>
          <a:xfrm>
            <a:off x="2543600" y="3397917"/>
            <a:ext cx="1339600" cy="7636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768 dimensional embedding</a:t>
            </a:r>
            <a:endParaRPr sz="1333"/>
          </a:p>
        </p:txBody>
      </p:sp>
      <p:sp>
        <p:nvSpPr>
          <p:cNvPr id="1155" name="Google Shape;1155;p188"/>
          <p:cNvSpPr/>
          <p:nvPr/>
        </p:nvSpPr>
        <p:spPr>
          <a:xfrm>
            <a:off x="5426200" y="3397933"/>
            <a:ext cx="1339600" cy="7636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768 dimensional embedding</a:t>
            </a:r>
            <a:endParaRPr sz="1333"/>
          </a:p>
        </p:txBody>
      </p:sp>
      <p:sp>
        <p:nvSpPr>
          <p:cNvPr id="1156" name="Google Shape;1156;p188"/>
          <p:cNvSpPr/>
          <p:nvPr/>
        </p:nvSpPr>
        <p:spPr>
          <a:xfrm>
            <a:off x="4138667" y="4296833"/>
            <a:ext cx="518000" cy="856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157" name="Google Shape;1157;p188"/>
          <p:cNvSpPr/>
          <p:nvPr/>
        </p:nvSpPr>
        <p:spPr>
          <a:xfrm>
            <a:off x="42100" y="5322467"/>
            <a:ext cx="1339600" cy="7636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768 dimensional embedding</a:t>
            </a:r>
            <a:endParaRPr sz="1333"/>
          </a:p>
        </p:txBody>
      </p:sp>
      <p:sp>
        <p:nvSpPr>
          <p:cNvPr id="1158" name="Google Shape;1158;p188"/>
          <p:cNvSpPr/>
          <p:nvPr/>
        </p:nvSpPr>
        <p:spPr>
          <a:xfrm>
            <a:off x="2543600" y="5322451"/>
            <a:ext cx="1339600" cy="7636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768 dimensional embedding</a:t>
            </a:r>
            <a:endParaRPr sz="1333"/>
          </a:p>
        </p:txBody>
      </p:sp>
      <p:sp>
        <p:nvSpPr>
          <p:cNvPr id="1159" name="Google Shape;1159;p188"/>
          <p:cNvSpPr/>
          <p:nvPr/>
        </p:nvSpPr>
        <p:spPr>
          <a:xfrm>
            <a:off x="5426200" y="5322467"/>
            <a:ext cx="1339600" cy="7636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768 dimensional embedding</a:t>
            </a:r>
            <a:endParaRPr sz="1333"/>
          </a:p>
        </p:txBody>
      </p:sp>
      <p:sp>
        <p:nvSpPr>
          <p:cNvPr id="1160" name="Google Shape;1160;p188"/>
          <p:cNvSpPr/>
          <p:nvPr/>
        </p:nvSpPr>
        <p:spPr>
          <a:xfrm>
            <a:off x="1703651" y="5581267"/>
            <a:ext cx="518000" cy="246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161" name="Google Shape;1161;p188"/>
          <p:cNvSpPr/>
          <p:nvPr/>
        </p:nvSpPr>
        <p:spPr>
          <a:xfrm>
            <a:off x="4395700" y="5581267"/>
            <a:ext cx="518000" cy="246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162" name="Google Shape;1162;p188"/>
          <p:cNvSpPr txBox="1"/>
          <p:nvPr/>
        </p:nvSpPr>
        <p:spPr>
          <a:xfrm>
            <a:off x="42100" y="4312733"/>
            <a:ext cx="3639776" cy="8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>
                <a:solidFill>
                  <a:schemeClr val="dk1"/>
                </a:solidFill>
              </a:rPr>
              <a:t>2) Perform time-decayed pooling</a:t>
            </a: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1163" name="Google Shape;1163;p188"/>
          <p:cNvSpPr/>
          <p:nvPr/>
        </p:nvSpPr>
        <p:spPr>
          <a:xfrm>
            <a:off x="7087733" y="5581267"/>
            <a:ext cx="618800" cy="246000"/>
          </a:xfrm>
          <a:prstGeom prst="mathEqual">
            <a:avLst>
              <a:gd name="adj1" fmla="val 23520"/>
              <a:gd name="adj2" fmla="val 1176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189"/>
          <p:cNvSpPr/>
          <p:nvPr/>
        </p:nvSpPr>
        <p:spPr>
          <a:xfrm>
            <a:off x="290633" y="2535058"/>
            <a:ext cx="1573200" cy="12764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768 dimensional pooled</a:t>
            </a:r>
            <a:r>
              <a:rPr lang="en" sz="1333" b="1"/>
              <a:t> progress report</a:t>
            </a:r>
            <a:r>
              <a:rPr lang="en" sz="1333"/>
              <a:t> embedding</a:t>
            </a:r>
            <a:endParaRPr sz="1333"/>
          </a:p>
        </p:txBody>
      </p:sp>
      <p:sp>
        <p:nvSpPr>
          <p:cNvPr id="1169" name="Google Shape;1169;p18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Clinical Text Model Pipeline</a:t>
            </a:r>
            <a:endParaRPr dirty="0"/>
          </a:p>
        </p:txBody>
      </p:sp>
      <p:sp>
        <p:nvSpPr>
          <p:cNvPr id="1170" name="Google Shape;1170;p189"/>
          <p:cNvSpPr/>
          <p:nvPr/>
        </p:nvSpPr>
        <p:spPr>
          <a:xfrm>
            <a:off x="1935200" y="2535058"/>
            <a:ext cx="1573200" cy="12764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/>
              <a:t>768 dimensional pooled</a:t>
            </a:r>
            <a:r>
              <a:rPr lang="en" sz="1333" b="1"/>
              <a:t> pathology report</a:t>
            </a:r>
            <a:r>
              <a:rPr lang="en" sz="1333"/>
              <a:t> embedding</a:t>
            </a:r>
            <a:endParaRPr sz="1333"/>
          </a:p>
        </p:txBody>
      </p:sp>
      <p:sp>
        <p:nvSpPr>
          <p:cNvPr id="1171" name="Google Shape;1171;p189"/>
          <p:cNvSpPr/>
          <p:nvPr/>
        </p:nvSpPr>
        <p:spPr>
          <a:xfrm>
            <a:off x="3584783" y="2535058"/>
            <a:ext cx="1573200" cy="12764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 dirty="0"/>
              <a:t>768 dimensional pooled</a:t>
            </a:r>
            <a:r>
              <a:rPr lang="en" sz="1333" b="1" dirty="0"/>
              <a:t> radiology report</a:t>
            </a:r>
            <a:r>
              <a:rPr lang="en" sz="1333" dirty="0"/>
              <a:t> embedding</a:t>
            </a:r>
            <a:endParaRPr sz="1333" dirty="0"/>
          </a:p>
        </p:txBody>
      </p:sp>
      <p:sp>
        <p:nvSpPr>
          <p:cNvPr id="1172" name="Google Shape;1172;p189"/>
          <p:cNvSpPr/>
          <p:nvPr/>
        </p:nvSpPr>
        <p:spPr>
          <a:xfrm>
            <a:off x="5224333" y="2535058"/>
            <a:ext cx="1573200" cy="12764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333" dirty="0"/>
              <a:t>Age</a:t>
            </a:r>
            <a:endParaRPr sz="1333" dirty="0"/>
          </a:p>
          <a:p>
            <a:pPr algn="ctr"/>
            <a:r>
              <a:rPr lang="en" sz="1333" dirty="0"/>
              <a:t>Gender</a:t>
            </a:r>
          </a:p>
        </p:txBody>
      </p:sp>
      <p:sp>
        <p:nvSpPr>
          <p:cNvPr id="1173" name="Google Shape;1173;p189"/>
          <p:cNvSpPr/>
          <p:nvPr/>
        </p:nvSpPr>
        <p:spPr>
          <a:xfrm>
            <a:off x="358467" y="1083667"/>
            <a:ext cx="8078400" cy="473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Observation Window</a:t>
            </a:r>
            <a:endParaRPr sz="2400"/>
          </a:p>
        </p:txBody>
      </p:sp>
      <p:sp>
        <p:nvSpPr>
          <p:cNvPr id="1174" name="Google Shape;1174;p189"/>
          <p:cNvSpPr/>
          <p:nvPr/>
        </p:nvSpPr>
        <p:spPr>
          <a:xfrm>
            <a:off x="8436867" y="1083667"/>
            <a:ext cx="3208400" cy="473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/>
              <a:t>Prediction Window</a:t>
            </a:r>
            <a:endParaRPr sz="2400"/>
          </a:p>
        </p:txBody>
      </p:sp>
      <p:sp>
        <p:nvSpPr>
          <p:cNvPr id="1175" name="Google Shape;1175;p189"/>
          <p:cNvSpPr/>
          <p:nvPr/>
        </p:nvSpPr>
        <p:spPr>
          <a:xfrm>
            <a:off x="6930233" y="2982591"/>
            <a:ext cx="1414800" cy="36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pic>
        <p:nvPicPr>
          <p:cNvPr id="1176" name="Google Shape;1176;p1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6867" y="1878558"/>
            <a:ext cx="3625167" cy="2589408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189"/>
          <p:cNvSpPr txBox="1"/>
          <p:nvPr/>
        </p:nvSpPr>
        <p:spPr>
          <a:xfrm>
            <a:off x="7150100" y="2617058"/>
            <a:ext cx="968400" cy="3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600">
                <a:solidFill>
                  <a:schemeClr val="dk2"/>
                </a:solidFill>
              </a:rPr>
              <a:t>Survival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179" name="Google Shape;1179;p189"/>
          <p:cNvSpPr txBox="1"/>
          <p:nvPr/>
        </p:nvSpPr>
        <p:spPr>
          <a:xfrm>
            <a:off x="7236000" y="3209591"/>
            <a:ext cx="949200" cy="3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600" dirty="0">
                <a:solidFill>
                  <a:schemeClr val="dk2"/>
                </a:solidFill>
              </a:rPr>
              <a:t>Model</a:t>
            </a:r>
            <a:endParaRPr sz="2400" dirty="0">
              <a:solidFill>
                <a:schemeClr val="dk2"/>
              </a:solidFill>
            </a:endParaRPr>
          </a:p>
        </p:txBody>
      </p:sp>
      <p:sp>
        <p:nvSpPr>
          <p:cNvPr id="1181" name="Google Shape;1181;p189"/>
          <p:cNvSpPr txBox="1"/>
          <p:nvPr/>
        </p:nvSpPr>
        <p:spPr>
          <a:xfrm>
            <a:off x="290633" y="3942366"/>
            <a:ext cx="7210684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>
                <a:solidFill>
                  <a:schemeClr val="dk1"/>
                </a:solidFill>
              </a:rPr>
              <a:t>3) Train survival model with the generated covariates</a:t>
            </a:r>
            <a:endParaRPr sz="2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B9DEC-9AD5-F2CB-2E03-7D5EC1E18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BA66-7E28-72ED-B8EA-FDE630B47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2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/>
              <a:t>NEPC Data Curation (DFCI PROFILE)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5AD06-B4B2-5230-F3BE-C8B86F52373A}"/>
              </a:ext>
            </a:extLst>
          </p:cNvPr>
          <p:cNvSpPr txBox="1">
            <a:spLocks/>
          </p:cNvSpPr>
          <p:nvPr/>
        </p:nvSpPr>
        <p:spPr>
          <a:xfrm>
            <a:off x="0" y="772722"/>
            <a:ext cx="12192000" cy="506455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Query for prostate cancer patients with:</a:t>
            </a:r>
          </a:p>
          <a:p>
            <a:pPr lvl="1"/>
            <a:r>
              <a:rPr lang="en-US" sz="2800" dirty="0"/>
              <a:t>&gt;= 10 PSA tests</a:t>
            </a:r>
          </a:p>
          <a:p>
            <a:pPr lvl="1"/>
            <a:r>
              <a:rPr lang="en-US" sz="2800" dirty="0"/>
              <a:t>NEPC or censoring (e.g. death/lost-to-follow-up) occurring after the 10</a:t>
            </a:r>
            <a:r>
              <a:rPr lang="en-US" sz="2800" baseline="30000" dirty="0"/>
              <a:t>th</a:t>
            </a:r>
            <a:r>
              <a:rPr lang="en-US" sz="2800" dirty="0"/>
              <a:t> PSA test</a:t>
            </a:r>
          </a:p>
          <a:p>
            <a:r>
              <a:rPr lang="en-US" dirty="0"/>
              <a:t>Annotate NEPC label as:</a:t>
            </a:r>
          </a:p>
          <a:p>
            <a:pPr lvl="1"/>
            <a:r>
              <a:rPr lang="en-US" sz="2800" dirty="0"/>
              <a:t>Initiation of platinum-based chemotherapy:</a:t>
            </a:r>
          </a:p>
          <a:p>
            <a:pPr marL="1405431" lvl="2" indent="0">
              <a:buNone/>
            </a:pPr>
            <a:r>
              <a:rPr lang="en-US" sz="2800" dirty="0"/>
              <a:t>Carboplatin, etoposide, atezolizumab, cisplatin</a:t>
            </a:r>
          </a:p>
          <a:p>
            <a:r>
              <a:rPr lang="en-US" dirty="0"/>
              <a:t>Annotate time-to-event as:</a:t>
            </a:r>
          </a:p>
          <a:p>
            <a:pPr lvl="1"/>
            <a:r>
              <a:rPr lang="en-US" sz="2800" dirty="0"/>
              <a:t>Date of NEPC initiation as defined by medication</a:t>
            </a:r>
          </a:p>
          <a:p>
            <a:pPr lvl="1"/>
            <a:r>
              <a:rPr lang="en-US" sz="2800" dirty="0"/>
              <a:t>Time of death or last contact</a:t>
            </a:r>
          </a:p>
          <a:p>
            <a:r>
              <a:rPr lang="en-US" dirty="0"/>
              <a:t>1049 patients in the cohort</a:t>
            </a:r>
          </a:p>
          <a:p>
            <a:pPr lvl="1"/>
            <a:r>
              <a:rPr lang="en-US" sz="2800" dirty="0"/>
              <a:t>190 patients have an NEPC event (18.11% of the cohort)</a:t>
            </a:r>
          </a:p>
        </p:txBody>
      </p:sp>
    </p:spTree>
    <p:extLst>
      <p:ext uri="{BB962C8B-B14F-4D97-AF65-F5344CB8AC3E}">
        <p14:creationId xmlns:p14="http://schemas.microsoft.com/office/powerpoint/2010/main" val="1623521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F064C-93D0-F6FA-DD5F-C6B8F431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00AAA-EA31-3ADE-39BE-C3AEACCE9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2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/>
              <a:t>NEPC Data Curation (DFCI PROFILE)</a:t>
            </a:r>
          </a:p>
        </p:txBody>
      </p:sp>
      <p:pic>
        <p:nvPicPr>
          <p:cNvPr id="4" name="Picture 3" descr="A graph of patient with numbers and notes per patient&#10;&#10;AI-generated content may be incorrect.">
            <a:extLst>
              <a:ext uri="{FF2B5EF4-FFF2-40B4-BE49-F238E27FC236}">
                <a16:creationId xmlns:a16="http://schemas.microsoft.com/office/drawing/2014/main" id="{5ED243EC-F129-3F52-35CA-EB00C4596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140" y="1339814"/>
            <a:ext cx="5574899" cy="4351338"/>
          </a:xfrm>
          <a:prstGeom prst="rect">
            <a:avLst/>
          </a:prstGeom>
        </p:spPr>
      </p:pic>
      <p:pic>
        <p:nvPicPr>
          <p:cNvPr id="5" name="Content Placeholder 12" descr="A graph of a patient&#10;&#10;AI-generated content may be incorrect.">
            <a:extLst>
              <a:ext uri="{FF2B5EF4-FFF2-40B4-BE49-F238E27FC236}">
                <a16:creationId xmlns:a16="http://schemas.microsoft.com/office/drawing/2014/main" id="{57C3043A-4819-0C00-D4B4-8B97DED90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61" y="1339814"/>
            <a:ext cx="55748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568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6B997-14FD-ABF5-53D6-4BBD9DEAE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E33-C6FE-7087-1A68-2193B7D3F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2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/>
              <a:t>NEPC Data Curation (DFCI PROFILE)</a:t>
            </a:r>
          </a:p>
        </p:txBody>
      </p:sp>
      <p:pic>
        <p:nvPicPr>
          <p:cNvPr id="3" name="Picture 2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56F5A624-146E-D4E9-55BB-E881CC104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707" y="805747"/>
            <a:ext cx="6400585" cy="524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036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6B88A-FD16-FB39-B6FB-21BF9776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ED899-ED51-A855-9B0F-9A988A52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2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/>
              <a:t>NEPC Survival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181E8-5ECE-1523-99F0-62213148734B}"/>
              </a:ext>
            </a:extLst>
          </p:cNvPr>
          <p:cNvSpPr txBox="1">
            <a:spLocks/>
          </p:cNvSpPr>
          <p:nvPr/>
        </p:nvSpPr>
        <p:spPr>
          <a:xfrm>
            <a:off x="0" y="772721"/>
            <a:ext cx="12067953" cy="58832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Define 10 separate prediction windows:</a:t>
            </a:r>
          </a:p>
          <a:p>
            <a:pPr lvl="1"/>
            <a:r>
              <a:rPr lang="en-US" sz="2800" dirty="0"/>
              <a:t>Predict time-to-NEPC from first PSA test, second PSA test, etc.</a:t>
            </a:r>
          </a:p>
          <a:p>
            <a:r>
              <a:rPr lang="en-US" dirty="0"/>
              <a:t>Consider both text and PSA measurements</a:t>
            </a:r>
          </a:p>
          <a:p>
            <a:r>
              <a:rPr lang="en-US" dirty="0"/>
              <a:t>For PSA measurements use either:</a:t>
            </a:r>
          </a:p>
          <a:p>
            <a:pPr lvl="1"/>
            <a:r>
              <a:rPr lang="en-US" sz="2800" dirty="0"/>
              <a:t>Sequential measurements within the observation window</a:t>
            </a:r>
          </a:p>
          <a:p>
            <a:pPr lvl="1"/>
            <a:r>
              <a:rPr lang="en-US" sz="2800" dirty="0"/>
              <a:t>Mean and standard deviation of the measurements within the observation window</a:t>
            </a:r>
          </a:p>
          <a:p>
            <a:r>
              <a:rPr lang="en-US" dirty="0"/>
              <a:t>Generate the following models:</a:t>
            </a:r>
          </a:p>
          <a:p>
            <a:pPr lvl="1"/>
            <a:r>
              <a:rPr lang="en-US" sz="2800" dirty="0"/>
              <a:t>Mean + </a:t>
            </a:r>
            <a:r>
              <a:rPr lang="en-US" sz="2800" dirty="0" err="1"/>
              <a:t>Stddev</a:t>
            </a:r>
            <a:r>
              <a:rPr lang="en-US" sz="2800" dirty="0"/>
              <a:t> PSA</a:t>
            </a:r>
          </a:p>
          <a:p>
            <a:pPr lvl="1"/>
            <a:r>
              <a:rPr lang="en-US" sz="2800" dirty="0"/>
              <a:t>Sequential PSA</a:t>
            </a:r>
          </a:p>
          <a:p>
            <a:pPr lvl="1"/>
            <a:r>
              <a:rPr lang="en-US" sz="2800" dirty="0"/>
              <a:t>Text</a:t>
            </a:r>
          </a:p>
          <a:p>
            <a:pPr lvl="1"/>
            <a:r>
              <a:rPr lang="en-US" sz="2800" dirty="0"/>
              <a:t>Text with mean + </a:t>
            </a:r>
            <a:r>
              <a:rPr lang="en-US" sz="2800" dirty="0" err="1"/>
              <a:t>stddev</a:t>
            </a:r>
            <a:r>
              <a:rPr lang="en-US" sz="2800" dirty="0"/>
              <a:t> PSA</a:t>
            </a:r>
          </a:p>
          <a:p>
            <a:pPr lvl="1"/>
            <a:r>
              <a:rPr lang="en-US" sz="2800" dirty="0"/>
              <a:t>Text with sequential PSA</a:t>
            </a:r>
          </a:p>
          <a:p>
            <a:r>
              <a:rPr lang="en-US" dirty="0"/>
              <a:t>Report 5-fold CV c-index for each model</a:t>
            </a:r>
          </a:p>
        </p:txBody>
      </p:sp>
    </p:spTree>
    <p:extLst>
      <p:ext uri="{BB962C8B-B14F-4D97-AF65-F5344CB8AC3E}">
        <p14:creationId xmlns:p14="http://schemas.microsoft.com/office/powerpoint/2010/main" val="3704743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0C66F-2D8D-7E76-7FCA-96EABF81B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7E75-318C-177E-A2BC-5810C2262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2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/>
              <a:t>NEPC Prediction Results</a:t>
            </a:r>
          </a:p>
        </p:txBody>
      </p:sp>
      <p:pic>
        <p:nvPicPr>
          <p:cNvPr id="4" name="Picture 3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831C0F63-E807-95C5-E3D9-2F4C7C0B7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95409"/>
            <a:ext cx="7772400" cy="526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17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374</Words>
  <Application>Microsoft Macintosh PowerPoint</Application>
  <PresentationFormat>Widescreen</PresentationFormat>
  <Paragraphs>70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CAIA NEPC Brief</vt:lpstr>
      <vt:lpstr>Outline</vt:lpstr>
      <vt:lpstr>Clinical Text Project Overview</vt:lpstr>
      <vt:lpstr>Clinical Text Model Pipeline</vt:lpstr>
      <vt:lpstr>Clinical Text Model Pipeline</vt:lpstr>
      <vt:lpstr>NEPC Data Curation (DFCI PROFILE)</vt:lpstr>
      <vt:lpstr>NEPC Data Curation (DFCI PROFILE)</vt:lpstr>
      <vt:lpstr>NEPC Data Curation (DFCI PROFILE)</vt:lpstr>
      <vt:lpstr>NEPC Survival Models</vt:lpstr>
      <vt:lpstr>NEPC Prediction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Connor, J. Patrick Gerard</dc:creator>
  <cp:lastModifiedBy>Connor, J. Patrick Gerard</cp:lastModifiedBy>
  <cp:revision>44</cp:revision>
  <dcterms:created xsi:type="dcterms:W3CDTF">2025-08-27T14:38:16Z</dcterms:created>
  <dcterms:modified xsi:type="dcterms:W3CDTF">2025-09-16T19:04:55Z</dcterms:modified>
</cp:coreProperties>
</file>