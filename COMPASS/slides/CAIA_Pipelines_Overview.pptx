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CAIA Cohort Preprocessing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9E2F3"/>
                </a:solidFill>
              </a:defRPr>
            </a:pPr>
            <a:r>
              <a:t>COMPASS (Prostate Cancer) &amp; IPIO (Immunotherapy)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9E2F3"/>
                </a:solidFill>
              </a:defRPr>
            </a:pPr>
            <a:r>
              <a:t>Filtering Criteria, Exclusion Sensitivity Analysis, and ICI Cohort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65F"/>
                </a:solidFill>
              </a:defRPr>
            </a:pPr>
            <a:r>
              <a:t>COMPASS Pipeline: Filtering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Population: Prostate cancer patients (OMOP concept 4163261 descendants)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PSA Concepts: 27 measurement variants (3 canonical + 24 variant LOINC codes)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Eligibility: ≥10 post-diagnosis PSA measurements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Event: First platinum chemotherapy (carboplatin/cisplatin) initiation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Labs: 48+ canonical lab types with variant remapping, unit conversion, and physiologic range filtering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Output: Long-format longitudinal lab records with time-to-event variables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65F"/>
                </a:solidFill>
              </a:defRPr>
            </a:pPr>
            <a:r>
              <a:t>COMPASS: Exclusion Criteria Under Consideration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000000"/>
                </a:solidFill>
              </a:defRPr>
            </a:pPr>
            <a:r>
              <a:t>Other Primary Cancer: Excludes patients with any non-prostate primary malignant neoplasm</a:t>
            </a:r>
          </a:p>
          <a:p>
            <a:pPr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 → Descendants of 443392 (Malignant neoplastic disease) MINUS prostate (4163261) MINUS secondary/metastatic (432851)</a:t>
            </a:r>
          </a:p>
          <a:p>
            <a:pPr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 → Does NOT exclude metastatic prostate cancer (e.g., bone mets)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PARP Inhibitor Exposure: Excludes patients with olaparib, rucaparib, niraparib, or talazoparib exposure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</a:defRPr>
            </a:pPr>
            <a:r>
              <a:t>Combined: Both filters applied simultaneously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F"/>
                </a:solidFill>
              </a:defRPr>
            </a:pPr>
            <a:r>
              <a:t>COMPASS: Cohort Size by Exclusion Filter &amp; PSA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Total prostate cancer patients: 23,938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Exclusion Filter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≥1 PSA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≥5 PSA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≥10 PSA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16,449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10,798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6,377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No other primary cancer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11,376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7,455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4,356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No PARP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16,256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10,612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6,209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No other cancer + No PARP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11,256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7,336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4,251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F"/>
                </a:solidFill>
              </a:defRPr>
            </a:pPr>
            <a:r>
              <a:t>COMPASS: Exclusion Filter Impact Across Thresholds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1445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 Filter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 Other Cancer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 PARP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 Cancer+PARP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Lost to Cancer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Lost to PARP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% Lost (Cancer)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≥1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16,449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11,376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16,256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11,256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5,073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30.8%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≥5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10,798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7,455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10,612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7,336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3,343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31.0%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≥10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6,377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4,356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6,209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4,251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2,021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31.7%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Key findings:</a:t>
            </a:r>
            <a:br/>
            <a:r>
              <a:t>• Other cancer exclusion consistently removes ~31% of patients</a:t>
            </a:r>
            <a:br/>
            <a:r>
              <a:t>• PARP exclusion removes &lt;3% at any threshold</a:t>
            </a:r>
            <a:br/>
            <a:r>
              <a:t>• Only 73 patients (0.4%) have both exclusion criteria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65F"/>
                </a:solidFill>
              </a:defRPr>
            </a:pPr>
            <a:r>
              <a:t>COMPASS: Top Non-Prostate Cancers Driving Exclusion (≥10 PSA)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Concept Name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Primary malignant neoplasm (NOS)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295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Primary malig. neoplasm, bladder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242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Basal cell carcinoma of skin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209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Primary malig. neoplasm, resp. tract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Basal cell carcinoma of 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155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Primary malig. neoplasm, kidney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Basal cell carcinoma, truncal skin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148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Squamous cell carcinoma of skin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Primary malignant melanoma, skin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110</a:t>
                      </a:r>
                    </a:p>
                  </a:txBody>
                  <a:tcPr anchor="ctr"/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Primary malig. neoplasm, colon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Observations:</a:t>
            </a:r>
            <a:br/>
            <a:br/>
            <a:r>
              <a:t>• Skin cancers (BCC, SCC) account for ~743 excluded patients — generally indolent and unlikely to confound prostate outcomes</a:t>
            </a:r>
            <a:br/>
            <a:br/>
            <a:r>
              <a:t>• Concept 439392 ("Primary malignant neoplasm" NOS) may be a coding artifact (295 patients)</a:t>
            </a:r>
            <a:br/>
            <a:br/>
            <a:r>
              <a:t>• All concepts confirmed as primary malignancies — no secondary/metastatic codes present</a:t>
            </a:r>
            <a:br/>
            <a:br/>
            <a:r>
              <a:t>• Metastatic prostate cancer codes correctly retained in cohort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F"/>
                </a:solidFill>
              </a:defRPr>
            </a:pPr>
            <a:r>
              <a:t>COMPASS: Post-Diagnosis PSA Count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097280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PSA Count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 Patients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1–2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3,386</a:t>
                      </a:r>
                    </a:p>
                  </a:txBody>
                  <a:tcPr anchor="ctr"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3–4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2,265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5–9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4,421</a:t>
                      </a:r>
                    </a:p>
                  </a:txBody>
                  <a:tcPr anchor="ctr"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10–14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2,632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15–19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1,454</a:t>
                      </a:r>
                    </a:p>
                  </a:txBody>
                  <a:tcPr anchor="ctr"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20–29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1,269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30–49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835</a:t>
                      </a:r>
                    </a:p>
                  </a:txBody>
                  <a:tcPr anchor="ctr"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50+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Summary (N = 16,449 with ≥1 PSA):</a:t>
            </a:r>
            <a:br/>
            <a:br/>
            <a:r>
              <a:t>• Mean: 10.4 measurements</a:t>
            </a:r>
            <a:br/>
            <a:r>
              <a:t>• Median: 7 (Q1 = 3, Q3 = 14)</a:t>
            </a:r>
            <a:br/>
            <a:r>
              <a:t>• Range: 1–110</a:t>
            </a:r>
            <a:br/>
            <a:br/>
            <a:r>
              <a:t>≥5 threshold retains 10,798 (65.6%)</a:t>
            </a:r>
            <a:br/>
            <a:r>
              <a:t>≥10 threshold retains 6,377 (38.7%)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65F"/>
                </a:solidFill>
              </a:defRPr>
            </a:pPr>
            <a:r>
              <a:t>IPIO Pipeline: Filtering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t>Population: All cancer patients on immune checkpoint inhibitor (ICI) therapy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Cancer Types: NSCLC, Bladder, Kidney, Melanoma (pre-labeled); all others fall back to OMOP concept name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ICI Drugs: 10 agents (ipilimumab, pembrolizumab, nivolumab, atezolizumab, durvalumab, avelumab, tremelimumab, relatlimab, dostarlimab, cemiplimab)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Discontinuation Classification: DEATH, OBS_END, PROGRESSION, TOXICITY_LIKELY, COMPLETED, UNDETERMINED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Progression signal: new non-ICI antineoplastic within 90 days of discontinuation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Toxicity signal: systemic corticosteroid within ±14 days of discontinuation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Labs: 48+ canonical lab types with variant remapping, unit conversion, and physiologic range filtering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65F"/>
                </a:solidFill>
              </a:defRPr>
            </a:pPr>
            <a:r>
              <a:t>IPIO: ICI Cohort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18872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Patients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Lab Records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Cancer Types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ICI Types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Deceased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Mortality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2,656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8,399,315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1,556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58.6%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65F"/>
                </a:solidFill>
              </a:defRPr>
            </a:pPr>
            <a:r>
              <a:t>Gender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200400"/>
          <a:ext cx="3200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52.7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1,255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47.3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65F"/>
                </a:solidFill>
              </a:defRPr>
            </a:pPr>
            <a:r>
              <a:t>Age at Diagnosis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0" y="320040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731520"/>
                <a:gridCol w="731520"/>
                <a:gridCol w="7315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SD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17–86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65F"/>
                </a:solidFill>
              </a:defRPr>
            </a:pPr>
            <a:r>
              <a:t>Follow-Up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0" y="3200400"/>
          <a:ext cx="3017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 (yrs)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Median (yrs)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Range (days)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20–3,654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F"/>
                </a:solidFill>
              </a:defRPr>
            </a:pPr>
            <a:r>
              <a:t>IPIO: Cancer Type &amp; ICI Treatment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Cancer Type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Melanoma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24.1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Kidney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12.7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Breast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8.4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NSCLC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Respiratory 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3.7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Prostate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Thyroid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2.1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Colon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Upper lobe lung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1.5</a:t>
                      </a:r>
                    </a:p>
                  </a:txBody>
                  <a:tcPr anchor="ctr"/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Liver cell carcinoma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09728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29094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ICI Type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Ipilimumab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1,876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70.6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Pembrolizumab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11.4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Nivolumab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5.5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Tremelimumab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Atezolizumab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2.8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Relatlimab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Dostarlimab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1.8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Avelumab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Durvalumab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0.3</a:t>
                      </a:r>
                    </a:p>
                  </a:txBody>
                  <a:tcPr anchor="ctr"/>
                </a:tc>
              </a:tr>
              <a:tr h="2909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Cemiplimab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F"/>
                </a:solidFill>
              </a:defRPr>
            </a:pPr>
            <a:r>
              <a:t>IPIO: ICI Discontinuation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Cause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Progression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1,576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59.3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Undetermined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693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26.1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Toxicity (Likely)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12.6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Observation 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</a:t>
                      </a:r>
                    </a:p>
                  </a:txBody>
                  <a:tcPr anchor="ctr"/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Death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09728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Cause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 (days)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Progression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1,576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75.1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0–1,890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Undetermined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47.0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0–322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Toxicity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0–558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588.3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518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336–1,556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Obs 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-7–196</a:t>
                      </a:r>
                    </a:p>
                  </a:txBody>
                  <a:tcPr anchor="ctr"/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Death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18.0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18–18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Overall time on ICI: Mean 69.5 days, Median 42 days (range: -7 to 1,890)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F"/>
                </a:solidFill>
              </a:defRPr>
            </a:pPr>
            <a:r>
              <a:t>IPIO: Top 15 Lab Measurements by Record Count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2857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Lab Name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 Records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Systolic BP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909,109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30–300</a:t>
                      </a:r>
                    </a:p>
                  </a:txBody>
                  <a:tcPr anchor="ctr"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Diastolic BP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818,879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70.0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10–200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Heart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725,831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82.8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20–250</a:t>
                      </a:r>
                    </a:p>
                  </a:txBody>
                  <a:tcPr anchor="ctr"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Body Temperature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459,336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36.7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36.7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25.0–44.4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Respiratory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377,720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2–60</a:t>
                      </a:r>
                    </a:p>
                  </a:txBody>
                  <a:tcPr anchor="ctr"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Body Weight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325,020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78.7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76.4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5.2–284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Glucose (Serum)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168,470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23–1,399</a:t>
                      </a:r>
                    </a:p>
                  </a:txBody>
                  <a:tcPr anchor="ctr"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Creatinine (Serum)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168,045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0.17–13.6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Potassium (Serum)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166,190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1.8–9.6</a:t>
                      </a:r>
                    </a:p>
                  </a:txBody>
                  <a:tcPr anchor="ctr"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Calcium (Serum)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165,750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9.09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2.9–19.9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Chloride (Serum)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164,841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67–139</a:t>
                      </a:r>
                    </a:p>
                  </a:txBody>
                  <a:tcPr anchor="ctr"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Sodium (Serum)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164,815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137.8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138.0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109–180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BUN (Serum)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164,768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17.9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2–192</a:t>
                      </a:r>
                    </a:p>
                  </a:txBody>
                  <a:tcPr anchor="ctr"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CO2 Total (Serum)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164,263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5–47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RBC (Automated)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163,179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0.98–8.83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Mean labs per patient: 3,162.4 | Median: 2,475 | Mean distinct lab types: 42.2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