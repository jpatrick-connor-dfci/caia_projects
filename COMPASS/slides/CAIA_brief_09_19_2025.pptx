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334" r:id="rId3"/>
    <p:sldId id="336" r:id="rId4"/>
    <p:sldId id="337" r:id="rId5"/>
    <p:sldId id="338" r:id="rId6"/>
    <p:sldId id="339" r:id="rId7"/>
    <p:sldId id="341" r:id="rId8"/>
    <p:sldId id="340" r:id="rId9"/>
    <p:sldId id="342" r:id="rId10"/>
    <p:sldId id="34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4"/>
    <p:restoredTop sz="94670"/>
  </p:normalViewPr>
  <p:slideViewPr>
    <p:cSldViewPr snapToGrid="0">
      <p:cViewPr varScale="1">
        <p:scale>
          <a:sx n="117" d="100"/>
          <a:sy n="117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21EB4-8955-B443-BAB0-ED1D98576A3D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71937-2EC2-4A41-A0C1-858C2D207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17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CEF4-DC5D-DD21-C8DA-F28E739E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4AEBD-CC10-D0C3-FF4E-90B6C19C8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CD58F-6AD9-6604-6C86-3E92B6884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B75A3-1467-2271-1BCD-DD4A73BD7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62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D91F-2C28-E7D5-7833-679FF02A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4EB65-4336-9D96-2934-F5F7B04EF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6272C-786C-AFB9-13F9-8F43EDB49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053AE-8539-6532-1F2B-8786AAEF5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92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766E-7010-B5DC-3E95-F875286F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DD7AB-E867-CC6F-FD4A-2787FC596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4E26B-5AE5-E4CD-63E8-B4B982C46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FB063-0542-18C3-E370-8A3110EB7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244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437C-0D9B-F527-000C-B97FE808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B4168-C209-3F39-CCB7-B53C7D9D3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FFBCF-651F-45DC-0B9C-012ACF08F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70594-EBBF-3BA5-2ADD-F6C8ED3B8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37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FC404-7EC2-364A-E25C-00B7C004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5D54E-4C8C-7F47-823D-5D39CC3CB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D2916-7A55-7002-7989-AE2858123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DCF84-A3E0-1DE4-8D26-127C2962B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34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5902-B24C-364C-BBFC-C2CA2743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00562-6082-B53B-0F26-E73DC871A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5CB96-A155-37FA-2720-74F95C2BE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A6162-E7F2-1D71-EF22-15CED6489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2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5606-1BA1-AEBC-153F-F6186CA3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CA9C9-3ABB-E9F6-EF7D-2928DDEBA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30D0B-F331-09FA-74A9-44A2CCA62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94398-1508-2062-63CF-16822BE5D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71937-2EC2-4A41-A0C1-858C2D2071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75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B114-EE72-80BC-B9DC-8C734BA53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6F03-8D2F-8CA2-F7EC-8EA436D5F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4655-8EB0-6743-09F9-0CA8C42B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E1E09-02B9-6A85-EA7E-5B745F3D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629A-FE3E-8C34-7C1E-FD9EF7F0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0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1702-5A3C-62EC-E5DA-2801B58B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9896-9262-5EFE-8701-25A3039C0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B2E68-FCE7-BF58-F67C-93F2AB76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C5620-A2E0-F7B4-BC2D-B1217405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3BF3-44E0-64F3-CBC9-031FBD28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6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038E-0C15-3A9A-6042-84DA556C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6B03A-AB16-1BAA-E300-0CB8EF882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4300-1C9C-35AD-B90F-10D2FAE45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CB80-A749-2741-D5F2-58752E43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AE566-64BF-E851-5707-437747F7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6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63D8D-39AD-0990-EAF1-CB3CEE44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52225-405B-07AB-4D9C-BD7DE788C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47BBD-E271-3F57-BA76-3B5D0B9B1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D119-8577-1A6A-CAAE-6F89E159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33DB9-E880-EC6D-9FCB-CBB4BBCF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962F5-62B0-732E-5222-9A4A2BDE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7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D3D0-7513-E1AB-6C9F-33CB0485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01FF-A430-8998-EFC9-EFDBFC47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7847F-267E-45DC-BA94-CB5DF69CB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9BA13-CE7A-E739-BBC4-7F13AA02A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FDF63-6571-8BDF-E9D9-89D9D26D8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E3763-3E69-4D63-609C-9FF4315B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8FA4C-EF3D-8D1B-1166-02342993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B346B-782B-4BDF-B541-0A0B64EB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3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655D-7B52-6B8A-EDF3-EE0E19CC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FDF9D-4250-D6E4-3AF4-D4E37ECF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FA40B-0EF2-C902-926B-6A392C29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952F2-8570-C3C5-F692-641F87A7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C4CA4-9661-EAFB-C788-2FD08A5E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67D8C-365A-7A5C-C192-26A98A00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AB405-EC20-3113-3FC9-66BCE6B1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6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9EAE-B04D-3BD3-140C-7B416962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B1ECC-F92A-ADC1-9F57-133927D1B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B9F2D-62F9-D260-3E93-F6C3F0137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9DC6-05D7-B723-9DBE-08906963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4100E-F0C0-5636-1DD7-65CD30D1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9C5F2-037E-1611-DDA5-FA73BD13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8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4632-7E94-E1DD-77B7-26175C5E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4B2D4-0A09-9E90-5C6B-3BAF0BA1B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B7EC5-E7E3-500F-E86C-98CA6B094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A08A4-10E4-FD25-54BE-A641E3AC1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7EF71-79DC-AD53-BE99-196847A4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8C72B-CFE2-5110-7ECC-9F78070B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78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294D-AC19-AC5F-0F07-0F84CAD1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45F40-F2C8-D3F2-6B97-8CD755066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5ED7B-9DD3-7DCB-17D0-C899F67A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D6FC-E475-1BAD-848B-30718D47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5A680-E9D8-57CF-35F4-2C8480A8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5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5D0E9-EBDA-D034-143F-53501A80A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A1060-9E2A-1B63-4A7B-341498944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6321-6A17-26B2-D57A-BCCEC5E5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D980-132B-A552-F4AB-A5225599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73601-5BD6-9B35-1FF3-4D4162AE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32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299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4C5AB-A93B-5F29-12F1-D9644C70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775A7-B54E-984B-F167-4E54DCABE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E1B8E-994F-078D-A7BB-554CDC870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F287D-A1BF-9D41-B395-09722AF3578B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20DF5-9E12-A7AA-05FD-B23A9FED9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32861-DE20-A76A-B568-3A561B1BC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13274-C9D4-7048-9497-5B923EEEE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7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AA0E-C879-2AD8-2F28-CC9266DAE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CAIA Technical Brief (09/19/2025)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B808D-EED5-7239-DFEC-AB62329681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J. Patrick Connor</a:t>
            </a:r>
          </a:p>
          <a:p>
            <a:r>
              <a:rPr lang="en-US" dirty="0"/>
              <a:t>G3 Gusev Lab</a:t>
            </a:r>
          </a:p>
        </p:txBody>
      </p:sp>
    </p:spTree>
    <p:extLst>
      <p:ext uri="{BB962C8B-B14F-4D97-AF65-F5344CB8AC3E}">
        <p14:creationId xmlns:p14="http://schemas.microsoft.com/office/powerpoint/2010/main" val="408065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6C25-1A9C-596E-B255-F202507A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2272-E734-C50E-B2ED-AB9A366E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75C58-CB01-CDEF-49D9-2CEFD196264A}"/>
              </a:ext>
            </a:extLst>
          </p:cNvPr>
          <p:cNvSpPr txBox="1"/>
          <p:nvPr/>
        </p:nvSpPr>
        <p:spPr>
          <a:xfrm>
            <a:off x="415600" y="1106209"/>
            <a:ext cx="11360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Preliminary NEPC prediction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Elastic-net </a:t>
            </a:r>
            <a:r>
              <a:rPr lang="en-US" sz="2800" dirty="0" err="1"/>
              <a:t>CoxPH</a:t>
            </a:r>
            <a:r>
              <a:rPr lang="en-US" sz="2800" dirty="0"/>
              <a:t> models using mean PSA, sequential PSA, and clinical text embeddings</a:t>
            </a:r>
          </a:p>
          <a:p>
            <a:endParaRPr lang="en-US" sz="2800" dirty="0"/>
          </a:p>
          <a:p>
            <a:r>
              <a:rPr lang="en-US" sz="2800" dirty="0"/>
              <a:t>Preliminary IO toxicity prediction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Elastic-net </a:t>
            </a:r>
            <a:r>
              <a:rPr lang="en-US" sz="2800" dirty="0" err="1"/>
              <a:t>CoxPH</a:t>
            </a:r>
            <a:r>
              <a:rPr lang="en-US" sz="2800" dirty="0"/>
              <a:t> models using monthly clinical labs and ICD codes </a:t>
            </a:r>
          </a:p>
          <a:p>
            <a:endParaRPr lang="en-US" sz="2800" dirty="0"/>
          </a:p>
          <a:p>
            <a:r>
              <a:rPr lang="en-US" sz="2800" dirty="0"/>
              <a:t>Overview of </a:t>
            </a:r>
            <a:r>
              <a:rPr lang="en-US" sz="2800" dirty="0" err="1"/>
              <a:t>SurvLatentODE</a:t>
            </a:r>
            <a:r>
              <a:rPr lang="en-US" sz="2800" dirty="0"/>
              <a:t> method (proposed method for lab/structured EHR predictions)</a:t>
            </a:r>
          </a:p>
          <a:p>
            <a:endParaRPr lang="en-US" sz="2800" dirty="0"/>
          </a:p>
          <a:p>
            <a:r>
              <a:rPr lang="en-US" sz="2800" dirty="0"/>
              <a:t>Example notebook from </a:t>
            </a:r>
            <a:r>
              <a:rPr lang="en-US" sz="2800" dirty="0" err="1"/>
              <a:t>SurvLatentODE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981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9DEC-9AD5-F2CB-2E03-7D5EC1E1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BA66-7E28-72ED-B8EA-FDE630B4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Data Curation (DFCI PROFILE)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AD06-B4B2-5230-F3BE-C8B86F52373A}"/>
              </a:ext>
            </a:extLst>
          </p:cNvPr>
          <p:cNvSpPr txBox="1">
            <a:spLocks/>
          </p:cNvSpPr>
          <p:nvPr/>
        </p:nvSpPr>
        <p:spPr>
          <a:xfrm>
            <a:off x="0" y="772722"/>
            <a:ext cx="12192000" cy="506455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Query for prostate cancer patients with:</a:t>
            </a:r>
          </a:p>
          <a:p>
            <a:pPr lvl="1"/>
            <a:r>
              <a:rPr lang="en-US" sz="2800" dirty="0"/>
              <a:t>&gt;= 10 PSA tests</a:t>
            </a:r>
          </a:p>
          <a:p>
            <a:pPr lvl="1"/>
            <a:r>
              <a:rPr lang="en-US" sz="2800" dirty="0"/>
              <a:t>NEPC or censoring (e.g. death/lost-to-follow-up) occurring after the 10</a:t>
            </a:r>
            <a:r>
              <a:rPr lang="en-US" sz="2800" baseline="30000" dirty="0"/>
              <a:t>th</a:t>
            </a:r>
            <a:r>
              <a:rPr lang="en-US" sz="2800" dirty="0"/>
              <a:t> PSA test</a:t>
            </a:r>
          </a:p>
          <a:p>
            <a:r>
              <a:rPr lang="en-US" dirty="0"/>
              <a:t>Annotate NEPC label as:</a:t>
            </a:r>
          </a:p>
          <a:p>
            <a:pPr lvl="1"/>
            <a:r>
              <a:rPr lang="en-US" sz="2800" dirty="0"/>
              <a:t>Initiation of platinum-based chemotherapy:</a:t>
            </a:r>
          </a:p>
          <a:p>
            <a:pPr marL="1405431" lvl="2" indent="0">
              <a:buNone/>
            </a:pPr>
            <a:r>
              <a:rPr lang="en-US" sz="2800" dirty="0"/>
              <a:t>Carboplatin, etoposide, atezolizumab, cisplatin</a:t>
            </a:r>
          </a:p>
          <a:p>
            <a:r>
              <a:rPr lang="en-US" dirty="0"/>
              <a:t>Annotate time-to-event as:</a:t>
            </a:r>
          </a:p>
          <a:p>
            <a:pPr lvl="1"/>
            <a:r>
              <a:rPr lang="en-US" sz="2800" dirty="0"/>
              <a:t>Date of NEPC initiation as defined by medication</a:t>
            </a:r>
          </a:p>
          <a:p>
            <a:pPr lvl="1"/>
            <a:r>
              <a:rPr lang="en-US" sz="2800" dirty="0"/>
              <a:t>Time of death or last contact</a:t>
            </a:r>
          </a:p>
          <a:p>
            <a:r>
              <a:rPr lang="en-US" dirty="0"/>
              <a:t>1049 patients in the cohort</a:t>
            </a:r>
          </a:p>
          <a:p>
            <a:pPr lvl="1"/>
            <a:r>
              <a:rPr lang="en-US" sz="2800" dirty="0"/>
              <a:t>190 patients have an NEPC event (18.11% of the cohort)</a:t>
            </a:r>
          </a:p>
        </p:txBody>
      </p:sp>
    </p:spTree>
    <p:extLst>
      <p:ext uri="{BB962C8B-B14F-4D97-AF65-F5344CB8AC3E}">
        <p14:creationId xmlns:p14="http://schemas.microsoft.com/office/powerpoint/2010/main" val="162352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B88A-FD16-FB39-B6FB-21BF9776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ED899-ED51-A855-9B0F-9A988A52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NEPC Survival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81E8-5ECE-1523-99F0-62213148734B}"/>
              </a:ext>
            </a:extLst>
          </p:cNvPr>
          <p:cNvSpPr txBox="1">
            <a:spLocks/>
          </p:cNvSpPr>
          <p:nvPr/>
        </p:nvSpPr>
        <p:spPr>
          <a:xfrm>
            <a:off x="0" y="772721"/>
            <a:ext cx="12067953" cy="58832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Define 10 separate prediction windows:</a:t>
            </a:r>
          </a:p>
          <a:p>
            <a:pPr lvl="1"/>
            <a:r>
              <a:rPr lang="en-US" sz="2800" dirty="0"/>
              <a:t>Predict time-to-NEPC from first PSA test, second PSA test, etc.</a:t>
            </a:r>
          </a:p>
          <a:p>
            <a:r>
              <a:rPr lang="en-US" dirty="0"/>
              <a:t>Consider both text and PSA measurements</a:t>
            </a:r>
          </a:p>
          <a:p>
            <a:r>
              <a:rPr lang="en-US" dirty="0"/>
              <a:t>For PSA measurements use either:</a:t>
            </a:r>
          </a:p>
          <a:p>
            <a:pPr lvl="1"/>
            <a:r>
              <a:rPr lang="en-US" sz="2800" dirty="0"/>
              <a:t>Sequential measurements within the observation window</a:t>
            </a:r>
          </a:p>
          <a:p>
            <a:pPr lvl="1"/>
            <a:r>
              <a:rPr lang="en-US" sz="2800" dirty="0"/>
              <a:t>Mean and standard deviation of the measurements within the observation window</a:t>
            </a:r>
          </a:p>
          <a:p>
            <a:r>
              <a:rPr lang="en-US" dirty="0"/>
              <a:t>Generate the following models:</a:t>
            </a:r>
          </a:p>
          <a:p>
            <a:pPr lvl="1"/>
            <a:r>
              <a:rPr lang="en-US" sz="2800" dirty="0"/>
              <a:t>Mean + </a:t>
            </a:r>
            <a:r>
              <a:rPr lang="en-US" sz="2800" dirty="0" err="1"/>
              <a:t>Stddev</a:t>
            </a:r>
            <a:r>
              <a:rPr lang="en-US" sz="2800" dirty="0"/>
              <a:t> PSA</a:t>
            </a:r>
          </a:p>
          <a:p>
            <a:pPr lvl="1"/>
            <a:r>
              <a:rPr lang="en-US" sz="2800" dirty="0"/>
              <a:t>Sequential PSA</a:t>
            </a:r>
          </a:p>
          <a:p>
            <a:pPr lvl="1"/>
            <a:r>
              <a:rPr lang="en-US" sz="2800" dirty="0"/>
              <a:t>Text</a:t>
            </a:r>
          </a:p>
          <a:p>
            <a:pPr lvl="1"/>
            <a:r>
              <a:rPr lang="en-US" sz="2800" dirty="0"/>
              <a:t>Text with mean + </a:t>
            </a:r>
            <a:r>
              <a:rPr lang="en-US" sz="2800" dirty="0" err="1"/>
              <a:t>stddev</a:t>
            </a:r>
            <a:r>
              <a:rPr lang="en-US" sz="2800" dirty="0"/>
              <a:t> PSA</a:t>
            </a:r>
          </a:p>
          <a:p>
            <a:pPr lvl="1"/>
            <a:r>
              <a:rPr lang="en-US" sz="2800" dirty="0"/>
              <a:t>Text with sequential PSA</a:t>
            </a:r>
          </a:p>
          <a:p>
            <a:r>
              <a:rPr lang="en-US" dirty="0"/>
              <a:t>Report 5-fold CV c-index for each model</a:t>
            </a:r>
          </a:p>
        </p:txBody>
      </p:sp>
    </p:spTree>
    <p:extLst>
      <p:ext uri="{BB962C8B-B14F-4D97-AF65-F5344CB8AC3E}">
        <p14:creationId xmlns:p14="http://schemas.microsoft.com/office/powerpoint/2010/main" val="370474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EEE7-C444-AEAA-34B3-AE2BD77F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A786-C0F5-D53B-33C3-691CDDEC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/>
              <a:t>IO Data Curation + Models (DFCI PROFILE)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9F8EA9-1C97-9EF3-B956-90B8A7AB0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79" y="772722"/>
            <a:ext cx="7772400" cy="2451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80A99-D29A-CEC2-CEFD-9D2CE2B72158}"/>
              </a:ext>
            </a:extLst>
          </p:cNvPr>
          <p:cNvSpPr txBox="1"/>
          <p:nvPr/>
        </p:nvSpPr>
        <p:spPr>
          <a:xfrm>
            <a:off x="365079" y="3243244"/>
            <a:ext cx="10467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Dealing with a cohort of ~2k patients with annotated event data</a:t>
            </a:r>
          </a:p>
          <a:p>
            <a:endParaRPr lang="en-US" dirty="0"/>
          </a:p>
          <a:p>
            <a:r>
              <a:rPr lang="en-US" dirty="0"/>
              <a:t>Extracting the 25 most common ICD codes and the clinical labs most prevalent in the patient population: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Binarizing the ICD codes for 12 months before IO start and 3 months after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Interpolating the clinical labs in that same period and taking mean values of the interpolation on a month-to-month basis</a:t>
            </a:r>
          </a:p>
          <a:p>
            <a:endParaRPr lang="en-US" dirty="0"/>
          </a:p>
          <a:p>
            <a:r>
              <a:rPr lang="en-US" dirty="0"/>
              <a:t>Final prediction data should have monthly information for each ICD code and clinical lab</a:t>
            </a:r>
          </a:p>
          <a:p>
            <a:endParaRPr lang="en-US" dirty="0"/>
          </a:p>
          <a:p>
            <a:r>
              <a:rPr lang="en-US" dirty="0"/>
              <a:t>Additional base variables include AGE, GENDER, IO type, and TMB</a:t>
            </a:r>
          </a:p>
          <a:p>
            <a:endParaRPr lang="en-US" dirty="0"/>
          </a:p>
          <a:p>
            <a:r>
              <a:rPr lang="en-US" dirty="0"/>
              <a:t>Use elastic-net </a:t>
            </a:r>
            <a:r>
              <a:rPr lang="en-US" dirty="0" err="1"/>
              <a:t>CoxPH</a:t>
            </a:r>
            <a:r>
              <a:rPr lang="en-US" dirty="0"/>
              <a:t> model on the resulting data</a:t>
            </a:r>
          </a:p>
        </p:txBody>
      </p:sp>
    </p:spTree>
    <p:extLst>
      <p:ext uri="{BB962C8B-B14F-4D97-AF65-F5344CB8AC3E}">
        <p14:creationId xmlns:p14="http://schemas.microsoft.com/office/powerpoint/2010/main" val="341523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687E-E5FD-CDCC-442F-D7627288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D009-2986-D3C8-F9D4-56C5ADA7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SurvLatentODE</a:t>
            </a:r>
            <a:endParaRPr lang="en-US" dirty="0"/>
          </a:p>
        </p:txBody>
      </p:sp>
      <p:pic>
        <p:nvPicPr>
          <p:cNvPr id="4" name="Picture 3" descr="A diagram of a model architecture&#10;&#10;AI-generated content may be incorrect.">
            <a:extLst>
              <a:ext uri="{FF2B5EF4-FFF2-40B4-BE49-F238E27FC236}">
                <a16:creationId xmlns:a16="http://schemas.microsoft.com/office/drawing/2014/main" id="{BB5438FA-7998-5DB6-E155-926129183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96" y="1010509"/>
            <a:ext cx="11047607" cy="48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3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92581-0F1B-39C9-A940-6D8B1C44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2024-750D-4C91-EF7F-BD4AC3A4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SurvLatentODE</a:t>
            </a:r>
            <a:endParaRPr lang="en-US" dirty="0"/>
          </a:p>
        </p:txBody>
      </p:sp>
      <p:pic>
        <p:nvPicPr>
          <p:cNvPr id="4" name="Picture 3" descr="A diagram of a model architecture&#10;&#10;AI-generated content may be incorrect.">
            <a:extLst>
              <a:ext uri="{FF2B5EF4-FFF2-40B4-BE49-F238E27FC236}">
                <a16:creationId xmlns:a16="http://schemas.microsoft.com/office/drawing/2014/main" id="{094BD6D4-D5A1-D2A8-3A4D-437EF50A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92" b="29335"/>
          <a:stretch>
            <a:fillRect/>
          </a:stretch>
        </p:blipFill>
        <p:spPr>
          <a:xfrm>
            <a:off x="572196" y="1879842"/>
            <a:ext cx="11047607" cy="2741280"/>
          </a:xfrm>
          <a:prstGeom prst="rect">
            <a:avLst/>
          </a:prstGeom>
        </p:spPr>
      </p:pic>
      <p:pic>
        <p:nvPicPr>
          <p:cNvPr id="5" name="Picture 4" descr="A close-up of a math symbol&#10;&#10;AI-generated content may be incorrect.">
            <a:extLst>
              <a:ext uri="{FF2B5EF4-FFF2-40B4-BE49-F238E27FC236}">
                <a16:creationId xmlns:a16="http://schemas.microsoft.com/office/drawing/2014/main" id="{89387979-0FE6-5231-F52C-1F212BC86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96" y="990842"/>
            <a:ext cx="4076700" cy="889000"/>
          </a:xfrm>
          <a:prstGeom prst="rect">
            <a:avLst/>
          </a:prstGeom>
        </p:spPr>
      </p:pic>
      <p:pic>
        <p:nvPicPr>
          <p:cNvPr id="7" name="Picture 6" descr="A yellow and black text&#10;&#10;AI-generated content may be incorrect.">
            <a:extLst>
              <a:ext uri="{FF2B5EF4-FFF2-40B4-BE49-F238E27FC236}">
                <a16:creationId xmlns:a16="http://schemas.microsoft.com/office/drawing/2014/main" id="{28FABBC9-8343-91EC-CAC0-3850A0FF6C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53" b="3530"/>
          <a:stretch>
            <a:fillRect/>
          </a:stretch>
        </p:blipFill>
        <p:spPr>
          <a:xfrm>
            <a:off x="4282831" y="4621122"/>
            <a:ext cx="7873181" cy="124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5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7DDD-57D7-6098-AE77-4FD11154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A1AA-6BB9-8FF2-D8A4-65875ABB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SurvLatentODE</a:t>
            </a:r>
            <a:endParaRPr lang="en-US" dirty="0"/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A7A124C-382E-9CC7-8A6B-4A01BF5F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-562"/>
          <a:stretch>
            <a:fillRect/>
          </a:stretch>
        </p:blipFill>
        <p:spPr>
          <a:xfrm>
            <a:off x="1451085" y="739288"/>
            <a:ext cx="9289829" cy="61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2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5AB7-A14B-7B82-CD95-3ACE044F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B7CB-8D79-797C-CBD1-1087B487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SurvLatentODE</a:t>
            </a:r>
            <a:endParaRPr lang="en-US" dirty="0"/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FEBE3EF6-575D-8B7B-CB08-437024500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1558795"/>
            <a:ext cx="11360800" cy="374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DE3D-4C92-D08C-5BEB-C9B5660D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2244-B86A-B1E4-6772-E4247F5C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2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SurvLatentODE</a:t>
            </a:r>
            <a:endParaRPr lang="en-US" dirty="0"/>
          </a:p>
        </p:txBody>
      </p:sp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19CF134-6D17-E1ED-5C07-C5F29D20E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65" y="983343"/>
            <a:ext cx="10938270" cy="489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11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354</Words>
  <Application>Microsoft Macintosh PowerPoint</Application>
  <PresentationFormat>Widescreen</PresentationFormat>
  <Paragraphs>64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CAIA Technical Brief (09/19/2025)</vt:lpstr>
      <vt:lpstr>Outline</vt:lpstr>
      <vt:lpstr>NEPC Data Curation (DFCI PROFILE)</vt:lpstr>
      <vt:lpstr>NEPC Survival Models</vt:lpstr>
      <vt:lpstr>IO Data Curation + Models (DFCI PROFILE)</vt:lpstr>
      <vt:lpstr>SurvLatentODE</vt:lpstr>
      <vt:lpstr>SurvLatentODE</vt:lpstr>
      <vt:lpstr>SurvLatentODE</vt:lpstr>
      <vt:lpstr>SurvLatentODE</vt:lpstr>
      <vt:lpstr>SurvLatentODE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Connor, J. Patrick Gerard</dc:creator>
  <cp:lastModifiedBy>Connor, J. Patrick Gerard</cp:lastModifiedBy>
  <cp:revision>94</cp:revision>
  <dcterms:created xsi:type="dcterms:W3CDTF">2025-08-27T14:38:16Z</dcterms:created>
  <dcterms:modified xsi:type="dcterms:W3CDTF">2025-09-19T17:53:03Z</dcterms:modified>
</cp:coreProperties>
</file>