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65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88"/>
    <p:restoredTop sz="94665"/>
  </p:normalViewPr>
  <p:slideViewPr>
    <p:cSldViewPr snapToGrid="0">
      <p:cViewPr varScale="1">
        <p:scale>
          <a:sx n="119" d="100"/>
          <a:sy n="119" d="100"/>
        </p:scale>
        <p:origin x="208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DA735-E876-571D-C66B-D79D4EAF6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51E81-E4E2-DB5F-8A33-8C8EDF8A1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A1F06-167A-BCFB-11C8-2B9D08972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076E3-AA83-9B4D-8A6E-EEC9DBBA328B}" type="datetimeFigureOut">
              <a:rPr lang="en-US" smtClean="0"/>
              <a:t>8/18/25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8449A-92BA-E8DE-D00F-946980F2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3A9A2-33F1-4173-B0E4-B31EAEBAD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71F95-5637-6847-82E3-89BFB2A3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577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570CB-F8B8-AEFB-DDCE-F6B7ED47F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27C16-B196-AD0B-FCF6-55F7AA754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82B05-F6F3-AD82-CF56-C2F39734A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076E3-AA83-9B4D-8A6E-EEC9DBBA328B}" type="datetimeFigureOut">
              <a:rPr lang="en-US" smtClean="0"/>
              <a:t>8/18/25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5C56E-297A-1040-ACA2-BFF00A8C4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A38B4-1FAB-F0E3-1E6A-D80E4DD9A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71F95-5637-6847-82E3-89BFB2A3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812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E16C9-1498-3B5C-B08A-B78EABE4B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06079-E666-D2FA-74B9-C4ACB184A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85712-2F84-5EEE-DE6B-8956FB726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076E3-AA83-9B4D-8A6E-EEC9DBBA328B}" type="datetimeFigureOut">
              <a:rPr lang="en-US" smtClean="0"/>
              <a:t>8/18/25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BDBD0-D04D-5C28-E778-A28F38325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AE214-46B2-B5BB-2E47-969C2729C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71F95-5637-6847-82E3-89BFB2A3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5497A-D1ED-8524-05E1-14618FD75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2F0BD-4F43-0C9D-4627-1D6E42D870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9469-2F79-F854-723E-B83A02F36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89B9A-93CF-DB45-D782-8696F1A28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076E3-AA83-9B4D-8A6E-EEC9DBBA328B}" type="datetimeFigureOut">
              <a:rPr lang="en-US" smtClean="0"/>
              <a:t>8/18/25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2ED50-181A-B89A-6950-5C51B613D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60244-EE99-E410-D63C-85C1CA1A3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71F95-5637-6847-82E3-89BFB2A3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1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2C3A5-3A23-2087-F6B0-546526D49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52881-D3B0-1B0F-D0EB-47C09E1CE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A0A3D5-A5C5-7FD8-7ECF-CAF12522E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ABCD-A5BF-FF6F-4F17-FFEDE30A6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EC754A-BEE9-A2A1-07A6-34577BC691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1509CB-08AD-2883-A449-D8ACAA485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076E3-AA83-9B4D-8A6E-EEC9DBBA328B}" type="datetimeFigureOut">
              <a:rPr lang="en-US" smtClean="0"/>
              <a:t>8/18/25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60C56B-9842-5F92-6823-3DEC752B2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A2460C-7A5E-C5FD-AB95-E66762516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71F95-5637-6847-82E3-89BFB2A3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139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6522F-B98E-D9DC-B9BC-4C11861EE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CFB479-EC09-7CDD-6D4A-273827DE2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076E3-AA83-9B4D-8A6E-EEC9DBBA328B}" type="datetimeFigureOut">
              <a:rPr lang="en-US" smtClean="0"/>
              <a:t>8/18/25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2370B2-6F4F-F2A3-FFF5-0F6206147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CC03E3-08B9-2FEF-E7AE-2124924A9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71F95-5637-6847-82E3-89BFB2A3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45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5A07B6-1480-3617-302B-305533238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076E3-AA83-9B4D-8A6E-EEC9DBBA328B}" type="datetimeFigureOut">
              <a:rPr lang="en-US" smtClean="0"/>
              <a:t>8/18/25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FE3083-D46C-B283-3E97-CB1809690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DEBE1-832E-8083-037B-D0E8A20A1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71F95-5637-6847-82E3-89BFB2A3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047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B1953-D852-EB9D-E4E7-94B6743C8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CACDD-B459-2D9C-2A27-D8DE90A74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106E8-B24D-C614-3F78-B708B1F53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00CDAF-6F24-6DAB-6817-00B1B376C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076E3-AA83-9B4D-8A6E-EEC9DBBA328B}" type="datetimeFigureOut">
              <a:rPr lang="en-US" smtClean="0"/>
              <a:t>8/18/25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68B08-5CFB-6A4B-D089-1AB8F32C4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55087-3291-3669-F408-3DBB29310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71F95-5637-6847-82E3-89BFB2A3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097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66563-09FC-24B8-5128-413366B13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78B68D-FD6B-0D4E-0798-C037C2F07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392C6C-67F6-2728-87A2-51E9C9F808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D9F49-FA5B-1DD4-7AC1-6C91EB311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076E3-AA83-9B4D-8A6E-EEC9DBBA328B}" type="datetimeFigureOut">
              <a:rPr lang="en-US" smtClean="0"/>
              <a:t>8/18/25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CB0C4-CAAB-8544-A4E6-AAF8CB05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58BB2-2429-79F8-D9F6-0E2084D8C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71F95-5637-6847-82E3-89BFB2A3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274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1B107-0485-538F-63BC-9ADF28831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3DFCB2-070C-1655-D90C-50B6DF64A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112B5-2F43-9652-803D-280EC4B95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076E3-AA83-9B4D-8A6E-EEC9DBBA328B}" type="datetimeFigureOut">
              <a:rPr lang="en-US" smtClean="0"/>
              <a:t>8/18/25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CA787-3700-1BC7-C6F6-12C0C449F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A82F8-B19C-BA1B-1216-E3E93B817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71F95-5637-6847-82E3-89BFB2A3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7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356B9F-84DC-AD47-4B28-29A65F4663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15A00-9228-6E99-2CEA-F2354A04B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E5C6F-4BD7-661A-044D-063880989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076E3-AA83-9B4D-8A6E-EEC9DBBA328B}" type="datetimeFigureOut">
              <a:rPr lang="en-US" smtClean="0"/>
              <a:t>8/18/25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4E413-7D6E-E095-4DD6-244997BE7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30328-FA73-385B-CFF7-10556076D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71F95-5637-6847-82E3-89BFB2A3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585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747157-34A7-183F-F166-F77DE1474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687EC-B50C-3E6C-91FF-A04138C4C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BDD34-0928-FF33-8E5B-6E881EF90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B076E3-AA83-9B4D-8A6E-EEC9DBBA328B}" type="datetimeFigureOut">
              <a:rPr lang="en-US" smtClean="0"/>
              <a:t>8/18/25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66E48-0417-27EA-02FE-08BBD6EEE4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3C79C-9A20-0189-C4CE-15E84F723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371F95-5637-6847-82E3-89BFB2A3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8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4F404-8E47-2154-B266-120F2435BE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NEPC Grant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D0035B-5F20-6EA6-B43B-322222E765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772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9CC2B-4FCA-EE43-3A04-7D512C725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BCCE-A305-6A4E-8A25-618817F88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686B8-359D-10FF-256B-D6113B214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Query for prostate cancer patients with:</a:t>
            </a:r>
          </a:p>
          <a:p>
            <a:pPr lvl="1"/>
            <a:r>
              <a:rPr lang="en-US" dirty="0"/>
              <a:t>&gt;= 10 PSA tests</a:t>
            </a:r>
          </a:p>
          <a:p>
            <a:pPr lvl="1"/>
            <a:r>
              <a:rPr lang="en-US" dirty="0"/>
              <a:t>NEPC or censoring event (e.g. death or lost-to-follow-up) occurring after the 10</a:t>
            </a:r>
            <a:r>
              <a:rPr lang="en-US" baseline="30000" dirty="0"/>
              <a:t>th</a:t>
            </a:r>
            <a:r>
              <a:rPr lang="en-US" dirty="0"/>
              <a:t> PSA test</a:t>
            </a:r>
          </a:p>
          <a:p>
            <a:r>
              <a:rPr lang="en-US" dirty="0"/>
              <a:t>Annotate NEPC label as:</a:t>
            </a:r>
          </a:p>
          <a:p>
            <a:pPr lvl="1"/>
            <a:r>
              <a:rPr lang="en-US" dirty="0"/>
              <a:t>Initiation of platinum-based chemotherapy:</a:t>
            </a:r>
          </a:p>
          <a:p>
            <a:pPr lvl="2"/>
            <a:r>
              <a:rPr lang="en-US" dirty="0"/>
              <a:t>Carboplatin, etoposide, atezolizumab, cisplatin</a:t>
            </a:r>
          </a:p>
          <a:p>
            <a:r>
              <a:rPr lang="en-US" dirty="0"/>
              <a:t>Annotate time-to-event as:</a:t>
            </a:r>
          </a:p>
          <a:p>
            <a:pPr lvl="1"/>
            <a:r>
              <a:rPr lang="en-US" dirty="0"/>
              <a:t>Date of NEPC initiation as defined by medication</a:t>
            </a:r>
          </a:p>
          <a:p>
            <a:pPr lvl="1"/>
            <a:r>
              <a:rPr lang="en-US" dirty="0"/>
              <a:t>Time of death or last contact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48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3030-3C68-B29B-A332-89212DF46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7311F-D055-936B-34B8-292FB1C8B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1049 patients in the cohort</a:t>
            </a:r>
          </a:p>
          <a:p>
            <a:pPr lvl="1"/>
            <a:r>
              <a:rPr lang="en-US" dirty="0"/>
              <a:t>190 patients have an NEPC event (18.11% of the cohort)</a:t>
            </a:r>
          </a:p>
          <a:p>
            <a:r>
              <a:rPr lang="en-US" dirty="0"/>
              <a:t>Average of 2401.44 days from first PSA measurement to NEPC</a:t>
            </a:r>
          </a:p>
          <a:p>
            <a:r>
              <a:rPr lang="en-US" dirty="0"/>
              <a:t>Mean PSA of:</a:t>
            </a:r>
          </a:p>
          <a:p>
            <a:pPr lvl="1"/>
            <a:r>
              <a:rPr lang="en-US" dirty="0"/>
              <a:t>61.39 across all measurements (</a:t>
            </a:r>
            <a:r>
              <a:rPr lang="en-US" dirty="0" err="1"/>
              <a:t>stddev</a:t>
            </a:r>
            <a:r>
              <a:rPr lang="en-US" dirty="0"/>
              <a:t> of 308.01)</a:t>
            </a:r>
          </a:p>
          <a:p>
            <a:pPr lvl="2"/>
            <a:r>
              <a:rPr lang="en-US" dirty="0"/>
              <a:t>Check for outliers in the first ten</a:t>
            </a:r>
          </a:p>
          <a:p>
            <a:pPr lvl="1"/>
            <a:r>
              <a:rPr lang="en-US" dirty="0"/>
              <a:t>17.51 in first ten tests (</a:t>
            </a:r>
            <a:r>
              <a:rPr lang="en-US" dirty="0" err="1"/>
              <a:t>stddev</a:t>
            </a:r>
            <a:r>
              <a:rPr lang="en-US" dirty="0"/>
              <a:t> of 8.21)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336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9D4FF-5588-241D-9F37-D161F78DC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D290A-3FE4-72A1-9BC9-FF7903580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Patient-level Data Availability</a:t>
            </a:r>
          </a:p>
        </p:txBody>
      </p:sp>
      <p:pic>
        <p:nvPicPr>
          <p:cNvPr id="9" name="Picture 8" descr="A graph of patient with numbers and notes per patient&#10;&#10;AI-generated content may be incorrect.">
            <a:extLst>
              <a:ext uri="{FF2B5EF4-FFF2-40B4-BE49-F238E27FC236}">
                <a16:creationId xmlns:a16="http://schemas.microsoft.com/office/drawing/2014/main" id="{843CAC0B-2D3D-050A-EA35-8E73D7789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098" y="1690688"/>
            <a:ext cx="5574899" cy="4351338"/>
          </a:xfrm>
          <a:prstGeom prst="rect">
            <a:avLst/>
          </a:prstGeom>
        </p:spPr>
      </p:pic>
      <p:pic>
        <p:nvPicPr>
          <p:cNvPr id="13" name="Content Placeholder 12" descr="A graph of a patient&#10;&#10;AI-generated content may be incorrect.">
            <a:extLst>
              <a:ext uri="{FF2B5EF4-FFF2-40B4-BE49-F238E27FC236}">
                <a16:creationId xmlns:a16="http://schemas.microsoft.com/office/drawing/2014/main" id="{E6E3C023-FCFC-DC30-FDC4-F6945A1C04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1102" y="1690688"/>
            <a:ext cx="5574898" cy="4351338"/>
          </a:xfrm>
        </p:spPr>
      </p:pic>
    </p:spTree>
    <p:extLst>
      <p:ext uri="{BB962C8B-B14F-4D97-AF65-F5344CB8AC3E}">
        <p14:creationId xmlns:p14="http://schemas.microsoft.com/office/powerpoint/2010/main" val="2484974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76766-F37D-2C56-14D2-6668FA114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E9EDA-FF4A-D76F-2D6B-10818028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Patient-level Data Availability</a:t>
            </a:r>
          </a:p>
        </p:txBody>
      </p:sp>
      <p:pic>
        <p:nvPicPr>
          <p:cNvPr id="4" name="Picture 3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2A0DD79A-AAE2-F49E-33D4-7E976B932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707" y="1475571"/>
            <a:ext cx="6400585" cy="524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923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AD76A-22AA-B0CF-7CC2-A6DE9094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A4C24-AFAA-207F-33D8-EF8703D4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Modeling (PSA as covariate)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945F1-708C-A8B6-6502-A449E879C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Since we have 10 PSA tests for each patient, define 10 separate prediction windows to perform analysis</a:t>
            </a:r>
          </a:p>
          <a:p>
            <a:pPr lvl="1"/>
            <a:r>
              <a:rPr lang="en-US" dirty="0"/>
              <a:t>Predict from first test, second test, third test, etc.</a:t>
            </a:r>
          </a:p>
          <a:p>
            <a:r>
              <a:rPr lang="en-US" dirty="0"/>
              <a:t>Two ways to input PSA:</a:t>
            </a:r>
          </a:p>
          <a:p>
            <a:pPr lvl="1"/>
            <a:r>
              <a:rPr lang="en-US" dirty="0"/>
              <a:t>Sequential</a:t>
            </a:r>
          </a:p>
          <a:p>
            <a:pPr lvl="2"/>
            <a:r>
              <a:rPr lang="en-US" dirty="0"/>
              <a:t>Predict from first test with first test, second test with first TWO tests, etc.</a:t>
            </a:r>
          </a:p>
          <a:p>
            <a:pPr lvl="1"/>
            <a:r>
              <a:rPr lang="en-US" dirty="0"/>
              <a:t>Mean + </a:t>
            </a:r>
            <a:r>
              <a:rPr lang="en-US" dirty="0" err="1"/>
              <a:t>Stddev</a:t>
            </a:r>
            <a:endParaRPr lang="en-US" dirty="0"/>
          </a:p>
          <a:p>
            <a:pPr lvl="2"/>
            <a:r>
              <a:rPr lang="en-US" dirty="0"/>
              <a:t>Predict from first test with first test, second test with mean + </a:t>
            </a:r>
            <a:r>
              <a:rPr lang="en-US" dirty="0" err="1"/>
              <a:t>stddev</a:t>
            </a:r>
            <a:r>
              <a:rPr lang="en-US" dirty="0"/>
              <a:t> of first TWO tests, etc.</a:t>
            </a:r>
          </a:p>
          <a:p>
            <a:r>
              <a:rPr lang="en-US" dirty="0"/>
              <a:t>Wanted to compare lifelines vs. </a:t>
            </a:r>
            <a:r>
              <a:rPr lang="en-US" dirty="0" err="1"/>
              <a:t>sksurv</a:t>
            </a:r>
            <a:r>
              <a:rPr lang="en-US" dirty="0"/>
              <a:t> as well</a:t>
            </a:r>
          </a:p>
          <a:p>
            <a:pPr lvl="1"/>
            <a:r>
              <a:rPr lang="en-US" dirty="0"/>
              <a:t>Extract model results from </a:t>
            </a:r>
            <a:r>
              <a:rPr lang="en-US" dirty="0" err="1"/>
              <a:t>sksurv</a:t>
            </a:r>
            <a:r>
              <a:rPr lang="en-US" dirty="0"/>
              <a:t> and visualize using R or lifelines</a:t>
            </a:r>
          </a:p>
          <a:p>
            <a:r>
              <a:rPr lang="en-US" dirty="0"/>
              <a:t>Reported mean CV c-index</a:t>
            </a:r>
          </a:p>
        </p:txBody>
      </p:sp>
    </p:spTree>
    <p:extLst>
      <p:ext uri="{BB962C8B-B14F-4D97-AF65-F5344CB8AC3E}">
        <p14:creationId xmlns:p14="http://schemas.microsoft.com/office/powerpoint/2010/main" val="3547061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FAB2A-8ACB-09A5-84B3-D7B81C8D7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C3DFB-92D2-75BB-CE6F-DA06B9D43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Modeling (PSA as covariate)</a:t>
            </a:r>
          </a:p>
        </p:txBody>
      </p:sp>
      <p:pic>
        <p:nvPicPr>
          <p:cNvPr id="11" name="Picture 10" descr="A graph of a line&#10;&#10;AI-generated content may be incorrect.">
            <a:extLst>
              <a:ext uri="{FF2B5EF4-FFF2-40B4-BE49-F238E27FC236}">
                <a16:creationId xmlns:a16="http://schemas.microsoft.com/office/drawing/2014/main" id="{A7235BE2-03A9-0657-A05D-F6FD06CC7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11" y="1690685"/>
            <a:ext cx="5763475" cy="4466069"/>
          </a:xfrm>
          <a:prstGeom prst="rect">
            <a:avLst/>
          </a:prstGeom>
        </p:spPr>
      </p:pic>
      <p:pic>
        <p:nvPicPr>
          <p:cNvPr id="13" name="Picture 12" descr="A graph of blue and orange lines&#10;&#10;AI-generated content may be incorrect.">
            <a:extLst>
              <a:ext uri="{FF2B5EF4-FFF2-40B4-BE49-F238E27FC236}">
                <a16:creationId xmlns:a16="http://schemas.microsoft.com/office/drawing/2014/main" id="{B8FB7A71-61D4-2337-506C-55DE1574E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211" y="1690685"/>
            <a:ext cx="5763476" cy="446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00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1FB6F-5D37-4E0E-7ABA-F3BCF6A55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B2AEB-80B0-7E78-B2EA-BA52054C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Modeling (embeddings as covariates)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CB081-B37D-9C27-591C-2A25A58F2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Selected the same 10 sets of predictions windows, including text prior to the selected test cutoff date</a:t>
            </a:r>
          </a:p>
          <a:p>
            <a:r>
              <a:rPr lang="en-US" dirty="0"/>
              <a:t>Ran only </a:t>
            </a:r>
            <a:r>
              <a:rPr lang="en-US" dirty="0" err="1"/>
              <a:t>sksurv</a:t>
            </a:r>
            <a:r>
              <a:rPr lang="en-US" dirty="0"/>
              <a:t> implementation as lifelines cannot handle such a number of covariates</a:t>
            </a:r>
          </a:p>
          <a:p>
            <a:pPr lvl="1"/>
            <a:r>
              <a:rPr lang="en-US" dirty="0"/>
              <a:t>Lifelines is implemented solely in python (no C backend) and is apparently well-known to fail to converge in adequate timeframe on larger datasets</a:t>
            </a:r>
          </a:p>
          <a:p>
            <a:r>
              <a:rPr lang="en-US" dirty="0"/>
              <a:t>Reported C-index on 5-fold CV data and held out test across the different prediction windows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78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74BD3-1957-2F01-6C33-6AB892A60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0780D-EEEF-4021-7AA2-137421A81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Modeling (embeddings as covariates)</a:t>
            </a:r>
          </a:p>
        </p:txBody>
      </p:sp>
      <p:pic>
        <p:nvPicPr>
          <p:cNvPr id="6" name="Picture 5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04CB441C-A6C9-5504-137B-FA13351B4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054" y="1409218"/>
            <a:ext cx="7163892" cy="520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451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46496-C0F5-BB58-4FB9-2057FD437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AAE96-5E6D-8376-F274-E89C870C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add to NEPC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641C3-550F-4B99-52A0-7C5866C10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 + PSA vs. Just Text vs. Just PSA</a:t>
            </a:r>
          </a:p>
          <a:p>
            <a:r>
              <a:rPr lang="en-US" dirty="0"/>
              <a:t>Look at the coefficients in the sequential model</a:t>
            </a:r>
          </a:p>
          <a:p>
            <a:pPr lvl="1"/>
            <a:r>
              <a:rPr lang="en-US" dirty="0"/>
              <a:t>Generate a table for each model</a:t>
            </a:r>
          </a:p>
          <a:p>
            <a:pPr lvl="1"/>
            <a:r>
              <a:rPr lang="en-US" dirty="0"/>
              <a:t>Which measurements are the model using to drive predictions?</a:t>
            </a:r>
          </a:p>
          <a:p>
            <a:pPr lvl="2"/>
            <a:r>
              <a:rPr lang="en-US" dirty="0"/>
              <a:t>Where do they fall temporally?</a:t>
            </a:r>
          </a:p>
          <a:p>
            <a:r>
              <a:rPr lang="en-US" dirty="0"/>
              <a:t>Any other metrics?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791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6FBF5-51C1-B361-6628-6DC2FA62C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12093-7DB8-90F0-9ECD-EF525C733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week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2E599-05C7-A224-E91E-716A9249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a proper visualization approach using a combination of </a:t>
            </a:r>
            <a:r>
              <a:rPr lang="en-US" dirty="0" err="1"/>
              <a:t>sksurv</a:t>
            </a:r>
            <a:r>
              <a:rPr lang="en-US" dirty="0"/>
              <a:t> and R</a:t>
            </a:r>
          </a:p>
          <a:p>
            <a:pPr lvl="1"/>
            <a:r>
              <a:rPr lang="en-US" dirty="0"/>
              <a:t>Regenerate last week’s figures and send them to you</a:t>
            </a:r>
          </a:p>
          <a:p>
            <a:r>
              <a:rPr lang="en-US" dirty="0"/>
              <a:t>Once that is finalized, run joint feature modeling </a:t>
            </a:r>
          </a:p>
          <a:p>
            <a:pPr lvl="1"/>
            <a:r>
              <a:rPr lang="en-US" dirty="0"/>
              <a:t>Last bit of wrap up</a:t>
            </a:r>
          </a:p>
          <a:p>
            <a:r>
              <a:rPr lang="en-US" dirty="0"/>
              <a:t>Primer for 8/25? </a:t>
            </a:r>
          </a:p>
          <a:p>
            <a:pPr lvl="1"/>
            <a:r>
              <a:rPr lang="en-US" dirty="0"/>
              <a:t>Looking for a review paper in either generative AI in medicine or something of that ilk</a:t>
            </a:r>
          </a:p>
          <a:p>
            <a:pPr lvl="1"/>
            <a:r>
              <a:rPr lang="en-US" b="1" dirty="0"/>
              <a:t>Interpretability paper from Anthropic</a:t>
            </a:r>
          </a:p>
        </p:txBody>
      </p:sp>
    </p:spTree>
    <p:extLst>
      <p:ext uri="{BB962C8B-B14F-4D97-AF65-F5344CB8AC3E}">
        <p14:creationId xmlns:p14="http://schemas.microsoft.com/office/powerpoint/2010/main" val="1422937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450</Words>
  <Application>Microsoft Macintosh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NEPC Grant Data</vt:lpstr>
      <vt:lpstr>Filtering Steps</vt:lpstr>
      <vt:lpstr>Summary Data</vt:lpstr>
      <vt:lpstr>Patient-level Data Availability</vt:lpstr>
      <vt:lpstr>Patient-level Data Availability</vt:lpstr>
      <vt:lpstr>Survival Modeling (PSA as covariate)</vt:lpstr>
      <vt:lpstr>Survival Modeling (PSA as covariate)</vt:lpstr>
      <vt:lpstr>Survival Modeling (embeddings as covariates)</vt:lpstr>
      <vt:lpstr>Survival Modeling (embeddings as covariates)</vt:lpstr>
      <vt:lpstr>Things to add to NEPC</vt:lpstr>
      <vt:lpstr>Other week updates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Connor, J. Patrick Gerard</dc:creator>
  <cp:lastModifiedBy>Connor, J. Patrick Gerard</cp:lastModifiedBy>
  <cp:revision>72</cp:revision>
  <dcterms:created xsi:type="dcterms:W3CDTF">2025-08-14T22:12:54Z</dcterms:created>
  <dcterms:modified xsi:type="dcterms:W3CDTF">2025-08-18T13:51:46Z</dcterms:modified>
</cp:coreProperties>
</file>